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Work Sans Medium"/>
      <p:regular r:id="rId25"/>
      <p:bold r:id="rId26"/>
      <p:italic r:id="rId27"/>
      <p:boldItalic r:id="rId28"/>
    </p:embeddedFont>
    <p:embeddedFont>
      <p:font typeface="Work Sans ExtraBold"/>
      <p:bold r:id="rId29"/>
      <p:boldItalic r:id="rId30"/>
    </p:embeddedFont>
    <p:embeddedFont>
      <p:font typeface="Work Sans"/>
      <p:regular r:id="rId31"/>
      <p:bold r:id="rId32"/>
      <p:italic r:id="rId33"/>
      <p:boldItalic r:id="rId34"/>
    </p:embeddedFont>
    <p:embeddedFont>
      <p:font typeface="Work Sans Light"/>
      <p:regular r:id="rId35"/>
      <p:bold r:id="rId36"/>
      <p:italic r:id="rId37"/>
      <p:boldItalic r:id="rId38"/>
    </p:embeddedFont>
    <p:embeddedFont>
      <p:font typeface="Work Sans SemiBold"/>
      <p:regular r:id="rId39"/>
      <p:bold r:id="rId40"/>
      <p:italic r:id="rId41"/>
      <p:boldItalic r:id="rId42"/>
    </p:embeddedFont>
    <p:embeddedFont>
      <p:font typeface="Comfortaa"/>
      <p:regular r:id="rId43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45" roundtripDataSignature="AMtx7miDEuusMXWftDIO0V9OT0Pd1Vkz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A92F02-AE02-40AB-A08F-D5B344D94F33}">
  <a:tblStyle styleId="{51A92F02-AE02-40AB-A08F-D5B344D94F3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A7F054CE-2701-40C5-875E-ABF36AF6589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B4479C1-2F03-4EEB-9996-612BB0A0B564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WorkSansSemiBold-bold.fntdata"/><Relationship Id="rId20" Type="http://schemas.openxmlformats.org/officeDocument/2006/relationships/slide" Target="slides/slide14.xml"/><Relationship Id="rId42" Type="http://schemas.openxmlformats.org/officeDocument/2006/relationships/font" Target="fonts/WorkSansSemiBold-boldItalic.fntdata"/><Relationship Id="rId41" Type="http://schemas.openxmlformats.org/officeDocument/2006/relationships/font" Target="fonts/WorkSansSemiBold-italic.fntdata"/><Relationship Id="rId22" Type="http://schemas.openxmlformats.org/officeDocument/2006/relationships/slide" Target="slides/slide16.xml"/><Relationship Id="rId44" Type="http://schemas.openxmlformats.org/officeDocument/2006/relationships/font" Target="fonts/Comfortaa-bold.fntdata"/><Relationship Id="rId21" Type="http://schemas.openxmlformats.org/officeDocument/2006/relationships/slide" Target="slides/slide15.xml"/><Relationship Id="rId43" Type="http://schemas.openxmlformats.org/officeDocument/2006/relationships/font" Target="fonts/Comfortaa-regular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WorkSansMedium-bold.fntdata"/><Relationship Id="rId25" Type="http://schemas.openxmlformats.org/officeDocument/2006/relationships/font" Target="fonts/WorkSansMedium-regular.fntdata"/><Relationship Id="rId28" Type="http://schemas.openxmlformats.org/officeDocument/2006/relationships/font" Target="fonts/WorkSansMedium-boldItalic.fntdata"/><Relationship Id="rId27" Type="http://schemas.openxmlformats.org/officeDocument/2006/relationships/font" Target="fonts/WorkSans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WorkSansExtra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WorkSans-regular.fntdata"/><Relationship Id="rId30" Type="http://schemas.openxmlformats.org/officeDocument/2006/relationships/font" Target="fonts/WorkSansExtraBold-boldItalic.fntdata"/><Relationship Id="rId11" Type="http://schemas.openxmlformats.org/officeDocument/2006/relationships/slide" Target="slides/slide5.xml"/><Relationship Id="rId33" Type="http://schemas.openxmlformats.org/officeDocument/2006/relationships/font" Target="fonts/WorkSans-italic.fntdata"/><Relationship Id="rId10" Type="http://schemas.openxmlformats.org/officeDocument/2006/relationships/slide" Target="slides/slide4.xml"/><Relationship Id="rId32" Type="http://schemas.openxmlformats.org/officeDocument/2006/relationships/font" Target="fonts/WorkSans-bold.fntdata"/><Relationship Id="rId13" Type="http://schemas.openxmlformats.org/officeDocument/2006/relationships/slide" Target="slides/slide7.xml"/><Relationship Id="rId35" Type="http://schemas.openxmlformats.org/officeDocument/2006/relationships/font" Target="fonts/WorkSansLight-regular.fntdata"/><Relationship Id="rId12" Type="http://schemas.openxmlformats.org/officeDocument/2006/relationships/slide" Target="slides/slide6.xml"/><Relationship Id="rId34" Type="http://schemas.openxmlformats.org/officeDocument/2006/relationships/font" Target="fonts/WorkSans-boldItalic.fntdata"/><Relationship Id="rId15" Type="http://schemas.openxmlformats.org/officeDocument/2006/relationships/slide" Target="slides/slide9.xml"/><Relationship Id="rId37" Type="http://schemas.openxmlformats.org/officeDocument/2006/relationships/font" Target="fonts/WorkSansLight-italic.fntdata"/><Relationship Id="rId14" Type="http://schemas.openxmlformats.org/officeDocument/2006/relationships/slide" Target="slides/slide8.xml"/><Relationship Id="rId36" Type="http://schemas.openxmlformats.org/officeDocument/2006/relationships/font" Target="fonts/WorkSansLight-bold.fntdata"/><Relationship Id="rId17" Type="http://schemas.openxmlformats.org/officeDocument/2006/relationships/slide" Target="slides/slide11.xml"/><Relationship Id="rId39" Type="http://schemas.openxmlformats.org/officeDocument/2006/relationships/font" Target="fonts/WorkSansSemiBold-regular.fntdata"/><Relationship Id="rId16" Type="http://schemas.openxmlformats.org/officeDocument/2006/relationships/slide" Target="slides/slide10.xml"/><Relationship Id="rId38" Type="http://schemas.openxmlformats.org/officeDocument/2006/relationships/font" Target="fonts/WorkSansLight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5859012eb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a5859012eb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5859012eb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3a5859012eb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5859012eb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3a5859012eb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5859012eb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a5859012eb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5859012eb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g3a5859012eb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5859012eb_1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a5859012eb_1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5859012eb_1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a5859012eb_1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5859012eb_1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3a5859012eb_1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6274f7451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g396274f7451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6274f7451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g396274f7451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6274f7451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g396274f7451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3.gif"/><Relationship Id="rId5" Type="http://schemas.openxmlformats.org/officeDocument/2006/relationships/image" Target="../media/image5.jpg"/><Relationship Id="rId6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0.jpg"/><Relationship Id="rId5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2.jpg"/><Relationship Id="rId5" Type="http://schemas.openxmlformats.org/officeDocument/2006/relationships/image" Target="../media/image1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1.jpg"/><Relationship Id="rId5" Type="http://schemas.openxmlformats.org/officeDocument/2006/relationships/image" Target="../media/image26.gif"/><Relationship Id="rId6" Type="http://schemas.openxmlformats.org/officeDocument/2006/relationships/image" Target="../media/image27.jpg"/><Relationship Id="rId7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6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1284625" y="2225150"/>
            <a:ext cx="9480600" cy="30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CO" sz="32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PRESENTACION PROYECTO SENA</a:t>
            </a:r>
            <a:endParaRPr b="1" i="0" sz="3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CO" sz="2600" u="none" cap="none" strike="noStrike">
                <a:solidFill>
                  <a:srgbClr val="6AA84F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Sistematización del Proceso de Ventas, Inventario y Producción en la Empresa: </a:t>
            </a:r>
            <a:r>
              <a:rPr b="0" i="0" lang="es-CO" sz="2400" u="none" cap="none" strike="noStrike">
                <a:solidFill>
                  <a:srgbClr val="6AA84F"/>
                </a:solidFill>
                <a:latin typeface="Work Sans"/>
                <a:ea typeface="Work Sans"/>
                <a:cs typeface="Work Sans"/>
                <a:sym typeface="Work Sans"/>
              </a:rPr>
              <a:t>DOTACIONES FORTUNA IJ</a:t>
            </a:r>
            <a:endParaRPr b="0" i="0" sz="34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6AA84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9105900" y="4915707"/>
            <a:ext cx="1945270" cy="82903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9105900" y="4915707"/>
            <a:ext cx="194527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Marca externa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9105900" y="5190743"/>
            <a:ext cx="194527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NOTA: </a:t>
            </a:r>
            <a:r>
              <a:rPr b="0" i="0" lang="es-CO" sz="1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 tamaño del logo de la marca externa no debe superar el tamaño del logo SENA.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25100" y="4915700"/>
            <a:ext cx="2524401" cy="97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1744050" y="1025850"/>
            <a:ext cx="9183300" cy="3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CO" sz="3600" u="none" cap="none" strike="noStrike">
                <a:solidFill>
                  <a:srgbClr val="6AA84F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404 - BYTESBUILDERS</a:t>
            </a:r>
            <a:endParaRPr b="0" i="0" sz="3600" u="none" cap="none" strike="noStrike">
              <a:solidFill>
                <a:srgbClr val="6AA84F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6AA84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6AA84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6AA84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rgbClr val="6FA8D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60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4972228" y="3324314"/>
            <a:ext cx="2247544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" name="Google Shape;104;p2"/>
          <p:cNvSpPr txBox="1"/>
          <p:nvPr/>
        </p:nvSpPr>
        <p:spPr>
          <a:xfrm>
            <a:off x="3207449" y="2641950"/>
            <a:ext cx="6256500" cy="3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CO" sz="32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INTEGRANTES:</a:t>
            </a:r>
            <a:endParaRPr b="0" i="0" sz="3200" u="none" cap="none" strike="noStrik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6AA84F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O" sz="3200" u="none" cap="none" strike="noStrike">
                <a:solidFill>
                  <a:srgbClr val="6AA84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  ° DILAN RODRIGUEZ</a:t>
            </a:r>
            <a:endParaRPr b="0" i="0" sz="3200" u="none" cap="none" strike="noStrike">
              <a:solidFill>
                <a:srgbClr val="6AA84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CO" sz="3200" u="none" cap="none" strike="noStrike">
                <a:solidFill>
                  <a:srgbClr val="6AA84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  ° FELIPE LASPRILLA</a:t>
            </a:r>
            <a:endParaRPr b="0" i="0" sz="3200" u="none" cap="none" strike="noStrike">
              <a:solidFill>
                <a:srgbClr val="6AA84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CO" sz="3200" u="none" cap="none" strike="noStrike">
                <a:solidFill>
                  <a:srgbClr val="6AA84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  ° </a:t>
            </a:r>
            <a:r>
              <a:rPr lang="es-CO" sz="3200">
                <a:solidFill>
                  <a:srgbClr val="6AA84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ANTHONY</a:t>
            </a:r>
            <a:r>
              <a:rPr b="0" i="0" lang="es-CO" sz="3200" u="none" cap="none" strike="noStrike">
                <a:solidFill>
                  <a:srgbClr val="6AA84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CARDENAS</a:t>
            </a:r>
            <a:endParaRPr b="0" i="0" sz="3200" u="none" cap="none" strike="noStrike">
              <a:solidFill>
                <a:srgbClr val="6AA84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CO" sz="3200">
                <a:solidFill>
                  <a:srgbClr val="6AA84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</a:t>
            </a:r>
            <a:endParaRPr sz="3200">
              <a:solidFill>
                <a:srgbClr val="6AA84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>
              <a:solidFill>
                <a:srgbClr val="6AA84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Work Sans Light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456236" y="416690"/>
            <a:ext cx="9815809" cy="527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TABLA DE CONTENIDO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0" name="Google Shape;110;p6"/>
          <p:cNvGraphicFramePr/>
          <p:nvPr/>
        </p:nvGraphicFramePr>
        <p:xfrm>
          <a:off x="891988" y="239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{51A92F02-AE02-40AB-A08F-D5B344D94F33}</a:tableStyleId>
              </a:tblPr>
              <a:tblGrid>
                <a:gridCol w="1120675"/>
                <a:gridCol w="3681500"/>
              </a:tblGrid>
              <a:tr h="365025">
                <a:tc>
                  <a:txBody>
                    <a:bodyPr/>
                    <a:lstStyle/>
                    <a:p>
                      <a:pPr indent="-342900" lvl="0" marL="4572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8888"/>
                        </a:buClr>
                        <a:buSzPts val="1800"/>
                        <a:buFont typeface="Work Sans"/>
                        <a:buAutoNum type="arabicPeriod"/>
                      </a:pPr>
                      <a:r>
                        <a:t/>
                      </a:r>
                      <a:endParaRPr b="1" sz="1800" u="none" cap="none" strike="noStrike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800" u="none" cap="none" strike="noStrike">
                          <a:solidFill>
                            <a:srgbClr val="434343"/>
                          </a:solidFill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Nombre del Proyecto</a:t>
                      </a:r>
                      <a:endParaRPr sz="1800" u="none" cap="none" strike="noStrike">
                        <a:solidFill>
                          <a:srgbClr val="434343"/>
                        </a:solidFill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CO" sz="1800" u="none" cap="none" strike="noStrike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2. </a:t>
                      </a:r>
                      <a:endParaRPr b="1" sz="1800" u="none" cap="none" strike="noStrike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800" u="none" cap="none" strike="noStrike">
                          <a:solidFill>
                            <a:srgbClr val="434343"/>
                          </a:solidFill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Planteamiento del Problema</a:t>
                      </a:r>
                      <a:endParaRPr sz="1800" u="none" cap="none" strike="noStrike">
                        <a:solidFill>
                          <a:srgbClr val="434343"/>
                        </a:solidFill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CO" sz="1800" u="none" cap="none" strike="noStrike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3.</a:t>
                      </a:r>
                      <a:endParaRPr b="1" sz="1800" u="none" cap="none" strike="noStrike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800" u="none" cap="none" strike="noStrike">
                          <a:solidFill>
                            <a:srgbClr val="434343"/>
                          </a:solidFill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Justificación</a:t>
                      </a:r>
                      <a:endParaRPr sz="1800" u="none" cap="none" strike="noStrike">
                        <a:solidFill>
                          <a:srgbClr val="434343"/>
                        </a:solidFill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CO" sz="1800" u="none" cap="none" strike="noStrike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4. </a:t>
                      </a:r>
                      <a:endParaRPr b="1" sz="1800" u="none" cap="none" strike="noStrike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800" u="none" cap="none" strike="noStrike">
                          <a:solidFill>
                            <a:srgbClr val="434343"/>
                          </a:solidFill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Pregunta del Proyecto</a:t>
                      </a:r>
                      <a:endParaRPr sz="1800" u="none" cap="none" strike="noStrike">
                        <a:solidFill>
                          <a:srgbClr val="434343"/>
                        </a:solidFill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CO" sz="1800" u="none" cap="none" strike="noStrike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5. </a:t>
                      </a:r>
                      <a:endParaRPr b="1" sz="1800" u="none" cap="none" strike="noStrike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800" u="none" cap="none" strike="noStrike">
                          <a:solidFill>
                            <a:srgbClr val="434343"/>
                          </a:solidFill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Objetivo General</a:t>
                      </a:r>
                      <a:endParaRPr sz="1800" u="none" cap="none" strike="noStrike">
                        <a:solidFill>
                          <a:srgbClr val="434343"/>
                        </a:solidFill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CO" sz="1800" u="none" cap="none" strike="noStrike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6. </a:t>
                      </a:r>
                      <a:endParaRPr b="1" sz="1800" u="none" cap="none" strike="noStrike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800" u="none" cap="none" strike="noStrike">
                          <a:solidFill>
                            <a:srgbClr val="434343"/>
                          </a:solidFill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Objetivo Específico</a:t>
                      </a:r>
                      <a:endParaRPr sz="1800" u="none" cap="none" strike="noStrike">
                        <a:solidFill>
                          <a:srgbClr val="434343"/>
                        </a:solidFill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CO" sz="1800" u="none" cap="none" strike="noStrike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7.</a:t>
                      </a:r>
                      <a:endParaRPr b="1" sz="1800" u="none" cap="none" strike="noStrike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800" u="none" cap="none" strike="noStrike">
                          <a:solidFill>
                            <a:srgbClr val="434343"/>
                          </a:solidFill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Alcance del proyecto</a:t>
                      </a:r>
                      <a:endParaRPr sz="1800" u="none" cap="none" strike="noStrike">
                        <a:solidFill>
                          <a:srgbClr val="434343"/>
                        </a:solidFill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1" name="Google Shape;111;p6"/>
          <p:cNvGraphicFramePr/>
          <p:nvPr/>
        </p:nvGraphicFramePr>
        <p:xfrm>
          <a:off x="5694175" y="239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{A7F054CE-2701-40C5-875E-ABF36AF6589B}</a:tableStyleId>
              </a:tblPr>
              <a:tblGrid>
                <a:gridCol w="888600"/>
                <a:gridCol w="4736500"/>
              </a:tblGrid>
              <a:tr h="42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800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8.</a:t>
                      </a:r>
                      <a:endParaRPr b="1" sz="1800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 Módulos del Sistema</a:t>
                      </a:r>
                      <a:endParaRPr sz="1800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</a:tr>
              <a:tr h="42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800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9.</a:t>
                      </a:r>
                      <a:endParaRPr b="1" sz="1800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800">
                          <a:solidFill>
                            <a:srgbClr val="888888"/>
                          </a:solidFill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Distribución de Funciones del Equipo</a:t>
                      </a:r>
                      <a:endParaRPr sz="1800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</a:tr>
              <a:tr h="42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CO" sz="1800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10.</a:t>
                      </a:r>
                      <a:endParaRPr b="1" sz="1800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>
                          <a:solidFill>
                            <a:srgbClr val="888888"/>
                          </a:solidFill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Flujo General del Sistema</a:t>
                      </a:r>
                      <a:endParaRPr sz="1800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</a:tr>
              <a:tr h="42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800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11.</a:t>
                      </a:r>
                      <a:endParaRPr b="1" sz="1800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Casos De Uso</a:t>
                      </a:r>
                      <a:endParaRPr sz="1800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</a:tr>
              <a:tr h="42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800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12.</a:t>
                      </a:r>
                      <a:endParaRPr b="1" sz="1800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Mockups</a:t>
                      </a:r>
                      <a:endParaRPr sz="1800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</a:tr>
              <a:tr h="42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800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13.</a:t>
                      </a:r>
                      <a:endParaRPr b="1" sz="1800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Versionamiento</a:t>
                      </a:r>
                      <a:endParaRPr sz="1800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/>
        </p:nvSpPr>
        <p:spPr>
          <a:xfrm>
            <a:off x="958200" y="1609975"/>
            <a:ext cx="102756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0" i="0" lang="es-CO" sz="80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PLANTEAMIENTO DEL PROYECTO</a:t>
            </a:r>
            <a:endParaRPr b="0" i="0" sz="8000" u="none" cap="none" strike="noStrike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cxnSp>
        <p:nvCxnSpPr>
          <p:cNvPr id="117" name="Google Shape;117;p3"/>
          <p:cNvCxnSpPr/>
          <p:nvPr/>
        </p:nvCxnSpPr>
        <p:spPr>
          <a:xfrm>
            <a:off x="4972230" y="4641533"/>
            <a:ext cx="2247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" name="Google Shape;122;p4"/>
          <p:cNvCxnSpPr/>
          <p:nvPr/>
        </p:nvCxnSpPr>
        <p:spPr>
          <a:xfrm>
            <a:off x="125968" y="1085770"/>
            <a:ext cx="1425900" cy="0"/>
          </a:xfrm>
          <a:prstGeom prst="straightConnector1">
            <a:avLst/>
          </a:prstGeom>
          <a:noFill/>
          <a:ln cap="flat" cmpd="sng" w="12700">
            <a:solidFill>
              <a:srgbClr val="4D4D4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23" name="Google Shape;12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8250" y="3709075"/>
            <a:ext cx="4543749" cy="314895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 txBox="1"/>
          <p:nvPr/>
        </p:nvSpPr>
        <p:spPr>
          <a:xfrm>
            <a:off x="8149700" y="1927350"/>
            <a:ext cx="41766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2700" u="none" cap="none" strike="noStrike">
                <a:solidFill>
                  <a:srgbClr val="38AA00"/>
                </a:solidFill>
                <a:latin typeface="Arial"/>
                <a:ea typeface="Arial"/>
                <a:cs typeface="Arial"/>
                <a:sym typeface="Arial"/>
              </a:rPr>
              <a:t>PLANTEAMIENTO DEL PROBLEMÁTICA</a:t>
            </a:r>
            <a:endParaRPr b="1" i="0" sz="2700" u="none" cap="none" strike="noStrike">
              <a:solidFill>
                <a:srgbClr val="38A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4" title="JUSTIFICACION - visual selection (2).png"/>
          <p:cNvPicPr preferRelativeResize="0"/>
          <p:nvPr/>
        </p:nvPicPr>
        <p:blipFill rotWithShape="1">
          <a:blip r:embed="rId5">
            <a:alphaModFix/>
          </a:blip>
          <a:srcRect b="660" l="-380" r="380" t="-660"/>
          <a:stretch/>
        </p:blipFill>
        <p:spPr>
          <a:xfrm>
            <a:off x="15139" y="30278"/>
            <a:ext cx="796211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/>
        </p:nvSpPr>
        <p:spPr>
          <a:xfrm rot="2370658">
            <a:off x="8733014" y="1355696"/>
            <a:ext cx="3809967" cy="741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JUSTIFICACIÓN</a:t>
            </a:r>
            <a:endParaRPr b="0" i="0" sz="1400" u="none" cap="none" strike="noStrike">
              <a:solidFill>
                <a:srgbClr val="38A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83975" y="3305425"/>
            <a:ext cx="3108024" cy="364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 title="PREGUNTA PROYECTO - visual selection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39" y="0"/>
            <a:ext cx="9083976" cy="6954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859012eb_0_13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PREGUNTA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dog is sitting in the back seat of a car with a question mark on its face . (proporcionado por Tenor)" id="138" name="Google Shape;138;g3a5859012eb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1325" y="4189850"/>
            <a:ext cx="1892425" cy="189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a5859012eb_0_13" title="images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76475" y="5445295"/>
            <a:ext cx="1892425" cy="112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a5859012eb_0_13"/>
          <p:cNvSpPr txBox="1"/>
          <p:nvPr/>
        </p:nvSpPr>
        <p:spPr>
          <a:xfrm>
            <a:off x="7024550" y="1345375"/>
            <a:ext cx="5256300" cy="1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CO" sz="23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¿Cómo puede un sistema informacion mejorar el control de pedidos, inventario y producción en la empresa de dotaciones y bordados, reemplazando los registros manuales actuales?</a:t>
            </a:r>
            <a:endParaRPr b="0" i="0" sz="23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41" name="Google Shape;141;g3a5859012eb_0_13" title="OBJETIVO GENERAL - visual selec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1262600"/>
            <a:ext cx="7024548" cy="583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5859012eb_0_5"/>
          <p:cNvSpPr txBox="1"/>
          <p:nvPr/>
        </p:nvSpPr>
        <p:spPr>
          <a:xfrm>
            <a:off x="493961" y="416565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a5859012eb_0_5"/>
          <p:cNvSpPr txBox="1"/>
          <p:nvPr/>
        </p:nvSpPr>
        <p:spPr>
          <a:xfrm>
            <a:off x="205175" y="1655525"/>
            <a:ext cx="11294100" cy="13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CO" sz="17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Llevar a cabo</a:t>
            </a:r>
            <a:r>
              <a:rPr b="0" i="0" lang="es-CO" sz="17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un sistema de  información </a:t>
            </a:r>
            <a:r>
              <a:rPr lang="es-CO" sz="17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Semi</a:t>
            </a:r>
            <a:r>
              <a:rPr b="0" i="0" lang="es-CO" sz="17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automatizado que optimice la gestión de la información y el control operativo</a:t>
            </a:r>
            <a:r>
              <a:rPr lang="es-CO" sz="17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</a:t>
            </a:r>
            <a:r>
              <a:rPr b="0" i="0" lang="es-CO" sz="17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que permita sistematizar el proceso de ventas, inventario y producción, sustituyendo los registros manuales por un sistema.	</a:t>
            </a:r>
            <a:endParaRPr b="0" i="0" sz="17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d White people with dart and target. Success in business. (proporcionado por Getty Images)" id="148" name="Google Shape;148;g3a5859012eb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9878" y="3266038"/>
            <a:ext cx="3487324" cy="2615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tos gratis : flecha, concepto, crecimiento, empresario, mejora ..." id="149" name="Google Shape;149;g3a5859012eb_0_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7676" y="3170988"/>
            <a:ext cx="4197151" cy="280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5859012eb_0_17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OBJETIVO ESPECÍFICO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a5859012eb_0_17"/>
          <p:cNvSpPr txBox="1"/>
          <p:nvPr/>
        </p:nvSpPr>
        <p:spPr>
          <a:xfrm>
            <a:off x="291450" y="1697300"/>
            <a:ext cx="8285400" cy="28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Light"/>
              <a:buAutoNum type="arabicPeriod"/>
            </a:pPr>
            <a: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Analizar el proceso actual de registro que se realiza manualmente.</a:t>
            </a:r>
            <a:b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</a:br>
            <a:endParaRPr b="0" i="0" sz="15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Light"/>
              <a:buAutoNum type="arabicPeriod"/>
            </a:pPr>
            <a: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Diseñar un sistema con módulos interconectados </a:t>
            </a:r>
            <a: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(ventas, inventario y producción)</a:t>
            </a:r>
            <a: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.</a:t>
            </a:r>
            <a:b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</a:br>
            <a:endParaRPr b="0" i="0" sz="15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Light"/>
              <a:buAutoNum type="arabicPeriod"/>
            </a:pPr>
            <a: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Crear formularios digitales para </a:t>
            </a:r>
            <a:r>
              <a:rPr lang="es-CO" sz="15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(reportes empleados, procesos de ventas y satisfacción al cliente)</a:t>
            </a:r>
            <a:b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</a:br>
            <a:endParaRPr b="0" i="0" sz="15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Light"/>
              <a:buAutoNum type="arabicPeriod"/>
            </a:pPr>
            <a: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Automatizar reportes de ventas, inventarios y entregas.</a:t>
            </a:r>
            <a:b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</a:br>
            <a:endParaRPr b="0" i="0" sz="15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Light"/>
              <a:buAutoNum type="arabicPeriod"/>
            </a:pPr>
            <a: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Establecer alertas de faltantes de materiales para evitar retrasos.</a:t>
            </a:r>
            <a:endParaRPr b="0" i="0" sz="15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g3a5859012eb_0_17" title="download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4800" y="4723150"/>
            <a:ext cx="8199200" cy="173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5859012eb_0_33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ALCANCE DEL PROYECTO</a:t>
            </a:r>
            <a:endParaRPr b="1" i="0" sz="36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t/>
            </a:r>
            <a:endParaRPr b="1" i="0" sz="36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62" name="Google Shape;162;g3a5859012eb_0_33"/>
          <p:cNvSpPr txBox="1"/>
          <p:nvPr/>
        </p:nvSpPr>
        <p:spPr>
          <a:xfrm>
            <a:off x="172050" y="1365325"/>
            <a:ext cx="11294100" cy="54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1500">
                <a:solidFill>
                  <a:schemeClr val="dk1"/>
                </a:solidFill>
              </a:rPr>
              <a:t>El proyecto incluye:</a:t>
            </a:r>
            <a:endParaRPr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O" sz="1300">
                <a:solidFill>
                  <a:schemeClr val="dk1"/>
                </a:solidFill>
              </a:rPr>
              <a:t>Creación de cinco módulos principales:</a:t>
            </a:r>
            <a:br>
              <a:rPr lang="es-CO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s-CO" sz="1300">
                <a:solidFill>
                  <a:schemeClr val="dk1"/>
                </a:solidFill>
              </a:rPr>
              <a:t>Gestion de usuarios</a:t>
            </a:r>
            <a:br>
              <a:rPr lang="es-CO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s-CO" sz="1300">
                <a:solidFill>
                  <a:schemeClr val="dk1"/>
                </a:solidFill>
              </a:rPr>
              <a:t>Gestion de inventario</a:t>
            </a:r>
            <a:br>
              <a:rPr lang="es-CO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s-CO" sz="1300">
                <a:solidFill>
                  <a:schemeClr val="dk1"/>
                </a:solidFill>
              </a:rPr>
              <a:t>Gestion de Ventas</a:t>
            </a:r>
            <a:br>
              <a:rPr lang="es-CO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s-CO" sz="1300">
                <a:solidFill>
                  <a:schemeClr val="dk1"/>
                </a:solidFill>
              </a:rPr>
              <a:t>Gestion de Pedidos</a:t>
            </a:r>
            <a:br>
              <a:rPr lang="es-CO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s-CO" sz="1300">
                <a:solidFill>
                  <a:schemeClr val="dk1"/>
                </a:solidFill>
              </a:rPr>
              <a:t>Gestion de dotacion personalizada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O" sz="1300">
                <a:solidFill>
                  <a:schemeClr val="dk1"/>
                </a:solidFill>
              </a:rPr>
              <a:t>Formatos digitales para el ingreso y actualización de datos en cada módulo.</a:t>
            </a:r>
            <a:br>
              <a:rPr lang="es-CO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O" sz="1300">
                <a:solidFill>
                  <a:schemeClr val="dk1"/>
                </a:solidFill>
              </a:rPr>
              <a:t>Flujo de trabajo integrado, desde la cotización del cliente hasta la entrega final de la dotación.</a:t>
            </a:r>
            <a:br>
              <a:rPr lang="es-CO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O" sz="1300">
                <a:solidFill>
                  <a:schemeClr val="dk1"/>
                </a:solidFill>
              </a:rPr>
              <a:t>Generación de reportes para apoyar la toma de decisiones administrativas y operativas.</a:t>
            </a:r>
            <a:br>
              <a:rPr lang="es-CO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O" sz="1300">
                <a:solidFill>
                  <a:schemeClr val="dk1"/>
                </a:solidFill>
              </a:rPr>
              <a:t>Sistema centralizado, amigable con un acceso organizado a los modulos dependiendo roles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g3a5859012eb_0_33" title="download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5650" y="1840888"/>
            <a:ext cx="302895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siness people planning vector illustration, cartoon flat employee character team working together on business plan isolated on white (proporcionada por Getty Images)" id="164" name="Google Shape;164;g3a5859012eb_0_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2623" y="3660400"/>
            <a:ext cx="2922476" cy="1923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5859012eb_0_9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MÓDULOS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0" name="Google Shape;170;g3a5859012eb_0_9"/>
          <p:cNvGraphicFramePr/>
          <p:nvPr/>
        </p:nvGraphicFramePr>
        <p:xfrm>
          <a:off x="392775" y="150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{EB4479C1-2F03-4EEB-9996-612BB0A0B564}</a:tableStyleId>
              </a:tblPr>
              <a:tblGrid>
                <a:gridCol w="2459575"/>
                <a:gridCol w="9161925"/>
              </a:tblGrid>
              <a:tr h="534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MÓDULO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DESCRIPCIÓN GENERAL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GESTIÓN</a:t>
                      </a:r>
                      <a:r>
                        <a:rPr b="1" lang="es-CO" sz="1100"/>
                        <a:t> DE USUARIOS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Registro y gestión de usuarios dentro del sistema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GESTIÓN</a:t>
                      </a:r>
                      <a:r>
                        <a:rPr b="1" lang="es-CO" sz="1100"/>
                        <a:t> DE </a:t>
                      </a:r>
                      <a:r>
                        <a:rPr b="1" lang="es-CO" sz="1100"/>
                        <a:t>INVENTARIO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Control de entradas y salidas de telas, insumos, tallas y productos terminados. Permite evitar faltantes, pérdidas y con alertas de  stock </a:t>
                      </a:r>
                      <a:r>
                        <a:rPr lang="es-CO"/>
                        <a:t>mínimo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GESTIÓN</a:t>
                      </a:r>
                      <a:r>
                        <a:rPr b="1" lang="es-CO" sz="1100"/>
                        <a:t> DE VENTAS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Registro y gestion de ventas Y tickets o recibos de cada venta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GESTIÓN</a:t>
                      </a:r>
                      <a:r>
                        <a:rPr b="1" lang="es-CO" sz="1100"/>
                        <a:t> DE PEDIDOS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Gestión</a:t>
                      </a:r>
                      <a:r>
                        <a:rPr lang="es-CO"/>
                        <a:t> de pedidos, </a:t>
                      </a:r>
                      <a:r>
                        <a:rPr lang="es-CO"/>
                        <a:t>seguimiento</a:t>
                      </a:r>
                      <a:r>
                        <a:rPr lang="es-CO"/>
                        <a:t>, crear, eliminar, modificar, in</a:t>
                      </a:r>
                      <a:r>
                        <a:rPr lang="es-CO"/>
                        <a:t>habilitar,habiltar, fecha de entrega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GESTION DE </a:t>
                      </a:r>
                      <a:r>
                        <a:rPr b="1" lang="es-CO" sz="1100"/>
                        <a:t>DOTACIÓN</a:t>
                      </a:r>
                      <a:r>
                        <a:rPr b="1" lang="es-CO" sz="1100"/>
                        <a:t> PERSONALIZADA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Diseñar dotaciones personalizadas(Logos)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5859012eb_1_33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MÓDULOS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6" name="Google Shape;176;g3a5859012eb_1_33"/>
          <p:cNvGraphicFramePr/>
          <p:nvPr/>
        </p:nvGraphicFramePr>
        <p:xfrm>
          <a:off x="69125" y="13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{EB4479C1-2F03-4EEB-9996-612BB0A0B564}</a:tableStyleId>
              </a:tblPr>
              <a:tblGrid>
                <a:gridCol w="4437675"/>
                <a:gridCol w="3135300"/>
                <a:gridCol w="4480775"/>
              </a:tblGrid>
              <a:tr h="516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INTEGRANTE Y ROL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RESPONSABILIDAD PRINCIPAL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TAREAS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2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INTEGRANTE 1 (ANTONY CARDENAS)</a:t>
                      </a:r>
                      <a:r>
                        <a:rPr lang="es-CO" sz="1100"/>
                        <a:t>Analista y Diseñador del Módulo de Ventas y Clientes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Sistematizar el proceso de ventas, clientes y facturación.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Crear base de datos de clientes, generar cotizaciones, registrar pedidos, controlar estados de venta y generar reportes.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INTEGRANTE 2 (DILAN RODRIGUEZ)</a:t>
                      </a:r>
                      <a:r>
                        <a:rPr lang="es-CO" sz="1100"/>
                        <a:t>Encargado del Módulo de Inventario y Materiales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Digitalizar y controlar el manejo de inventario y materia prima.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Diseñar base de datos de materiales, registrar entradas y salidas, controlar stock, generar alertas y reportes.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INTEGRANTE 3 (FELIPE LASPRILLA)</a:t>
                      </a:r>
                      <a:r>
                        <a:rPr lang="es-CO" sz="1100"/>
                        <a:t>Encargado del Módulo de Producción y Confección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Controlar el proceso de producción de las dotaciones.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Crear órdenes de producción, asignar tareas, registrar avances y controlar tiempos de confección.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2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INTEGRANTE 4 (BRAYAN CORPA)</a:t>
                      </a:r>
                      <a:r>
                        <a:rPr lang="es-CO" sz="1100"/>
                        <a:t>Encargado del Módulo de Logística y Entrega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Gestionar la entrega oportuna de los pedidos.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Registrar despachos, controlar fechas de entrega, actualizar estados de pedidos y confirmar entregas con clientes.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2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INTEGRANTE 5 (SAMUEL PEÑA)</a:t>
                      </a:r>
                      <a:r>
                        <a:rPr lang="es-CO" sz="1100"/>
                        <a:t>Encargado del Módulo de Personal y Tallaje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Administrar la información del personal y las dotaciones asignadas.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Registrar empleados, controlar tallas, asignar dotaciones por trabajador y generar reportes de entregas.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5859012eb_1_28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FLUJO GENERAL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luence of external factors on object RGB color icon (proporcionado por Getty Images)" id="182" name="Google Shape;182;g3a5859012eb_1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1650" y="1387895"/>
            <a:ext cx="1844398" cy="18443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icken wearing glasses is pointing at a graph on a white board (proporcionado por Tenor)" id="183" name="Google Shape;183;g3a5859012eb_1_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60125" y="3232303"/>
            <a:ext cx="2257950" cy="178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scussion   messages   bubble (proporcionado por Getty Images)" id="184" name="Google Shape;184;g3a5859012eb_1_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2700" y="5182050"/>
            <a:ext cx="1487427" cy="1487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3a5859012eb_1_28" title="flujo general - visual selection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1249500"/>
            <a:ext cx="7799649" cy="5608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5859012eb_1_38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BENEFICIOS ESPERADOS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a5859012eb_1_38"/>
          <p:cNvSpPr txBox="1"/>
          <p:nvPr/>
        </p:nvSpPr>
        <p:spPr>
          <a:xfrm>
            <a:off x="515400" y="2324575"/>
            <a:ext cx="67305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AutoNum type="arabicPeriod"/>
            </a:pPr>
            <a:r>
              <a:rPr b="0" i="0" lang="es-CO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Eliminación total de registros manuales.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2286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AutoNum type="arabicPeriod"/>
            </a:pPr>
            <a:r>
              <a:rPr b="0" i="0" lang="es-CO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Mayor rapidez en el acceso a información.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2286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AutoNum type="arabicPeriod"/>
            </a:pPr>
            <a:r>
              <a:rPr b="0" i="0" lang="es-CO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Reducción de errores en los pedidos.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AutoNum type="arabicPeriod"/>
            </a:pPr>
            <a:r>
              <a:rPr b="0" i="0" lang="es-CO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Registro de </a:t>
            </a:r>
            <a:r>
              <a:rPr lang="es-CO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dotación</a:t>
            </a:r>
            <a:r>
              <a:rPr b="0" i="0" lang="es-CO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y producción.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2286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AutoNum type="arabicPeriod"/>
            </a:pPr>
            <a:r>
              <a:rPr b="0" i="0" lang="es-CO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Optimización del tiempo y mejor servicio al cliente.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tickmen lifting bar for graph (proporcionado por Getty Images)" id="192" name="Google Shape;192;g3a5859012eb_1_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6350" y="1496974"/>
            <a:ext cx="2206177" cy="15124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ople with rope raise falling chart. Increase in profit and income. Businesspeople working together. Crisis management. Teamwork (proporcionado por Getty Images)" id="193" name="Google Shape;193;g3a5859012eb_1_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96800" y="3165050"/>
            <a:ext cx="2636001" cy="175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siness couple and hand (proporcionado por Getty Images)" id="194" name="Google Shape;194;g3a5859012eb_1_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94425" y="5112509"/>
            <a:ext cx="2110024" cy="1607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6274f7451_0_32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CASOS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96274f7451_0_32"/>
          <p:cNvSpPr txBox="1"/>
          <p:nvPr/>
        </p:nvSpPr>
        <p:spPr>
          <a:xfrm>
            <a:off x="515400" y="2324575"/>
            <a:ext cx="6730500" cy="3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nuestros casos de uso buscamos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6274f7451_0_40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MOCKUPS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6274f7451_0_48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VERSIONAMIENTO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