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Work Sans Medium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  <p:embeddedFont>
      <p:font typeface="Work Sans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h9dMDyP/mirNt9n0Q30R9Eukt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EDF4E9-53E3-4577-B3B9-F996CCFEEAB7}">
  <a:tblStyle styleId="{F0EDF4E9-53E3-4577-B3B9-F996CCFEEA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2556CC0-91EB-4E56-BA2C-87346537654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WorkSansMedium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Medium-boldItalic.fntdata"/><Relationship Id="rId30" Type="http://schemas.openxmlformats.org/officeDocument/2006/relationships/font" Target="fonts/WorkSansMedium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slide" Target="slides/slide9.xml"/><Relationship Id="rId37" Type="http://schemas.openxmlformats.org/officeDocument/2006/relationships/font" Target="fonts/WorkSansLight-bold.fntdata"/><Relationship Id="rId14" Type="http://schemas.openxmlformats.org/officeDocument/2006/relationships/slide" Target="slides/slide8.xml"/><Relationship Id="rId36" Type="http://schemas.openxmlformats.org/officeDocument/2006/relationships/font" Target="fonts/WorkSansLight-regular.fntdata"/><Relationship Id="rId17" Type="http://schemas.openxmlformats.org/officeDocument/2006/relationships/slide" Target="slides/slide11.xml"/><Relationship Id="rId39" Type="http://schemas.openxmlformats.org/officeDocument/2006/relationships/font" Target="fonts/WorkSans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WorkSans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1e9cdf9e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d1e9cdf9e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859012e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a5859012e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859012e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a5859012e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859012e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a5859012e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66e5bd6c5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66e5bd6c5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6e5bd6c5_1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966e5bd6c5_1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6e5bd6c5_1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66e5bd6c5_1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6e5bd6c5_1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66e5bd6c5_1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66e5bd6c5_1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966e5bd6c5_1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66e5bd6c5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966e5bd6c5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66e5bd6c5_1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966e5bd6c5_1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6274f7451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6274f7451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6274f7451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96274f7451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gif"/><Relationship Id="rId5" Type="http://schemas.openxmlformats.org/officeDocument/2006/relationships/image" Target="../media/image4.jp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9.jpg"/><Relationship Id="rId5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e9cdf9ee_0_4"/>
          <p:cNvSpPr txBox="1"/>
          <p:nvPr/>
        </p:nvSpPr>
        <p:spPr>
          <a:xfrm>
            <a:off x="1650593" y="1536427"/>
            <a:ext cx="9480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PROYECTO SENA: </a:t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DOTACIONES Y FORTUNA IJ</a:t>
            </a:r>
            <a:endParaRPr b="0" i="0" sz="3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g3d1e9cdf9ee_0_4"/>
          <p:cNvSpPr/>
          <p:nvPr/>
        </p:nvSpPr>
        <p:spPr>
          <a:xfrm>
            <a:off x="9105900" y="4915707"/>
            <a:ext cx="1945200" cy="82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g3d1e9cdf9ee_0_4"/>
          <p:cNvSpPr txBox="1"/>
          <p:nvPr/>
        </p:nvSpPr>
        <p:spPr>
          <a:xfrm>
            <a:off x="9105900" y="4915707"/>
            <a:ext cx="194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g3d1e9cdf9ee_0_4"/>
          <p:cNvSpPr txBox="1"/>
          <p:nvPr/>
        </p:nvSpPr>
        <p:spPr>
          <a:xfrm>
            <a:off x="9105900" y="5190743"/>
            <a:ext cx="19452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NOTA: </a:t>
            </a:r>
            <a:r>
              <a:rPr b="0" i="0" lang="es-CO" sz="1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 tamaño del logo de la marca externa no debe superar el tamaño del logo SENA.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7" name="Google Shape;97;g3d1e9cdf9ee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8229" y="4778182"/>
            <a:ext cx="2262963" cy="102437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d1e9cdf9ee_0_4"/>
          <p:cNvSpPr txBox="1"/>
          <p:nvPr/>
        </p:nvSpPr>
        <p:spPr>
          <a:xfrm>
            <a:off x="2535963" y="2469382"/>
            <a:ext cx="7120073" cy="33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24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404 - BYTESBUILDERS</a:t>
            </a:r>
            <a:endParaRPr b="0" i="0" sz="24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6FA8D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9" name="Google Shape;99;g3d1e9cdf9ee_0_4"/>
          <p:cNvCxnSpPr/>
          <p:nvPr/>
        </p:nvCxnSpPr>
        <p:spPr>
          <a:xfrm>
            <a:off x="4455886" y="2616478"/>
            <a:ext cx="38608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g3d1e9cdf9ee_0_4"/>
          <p:cNvSpPr txBox="1"/>
          <p:nvPr/>
        </p:nvSpPr>
        <p:spPr>
          <a:xfrm>
            <a:off x="3026229" y="3539863"/>
            <a:ext cx="6400800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INTEGRANTES: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° ANTHONY CARDENAS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° FELIPE LASPRILLA</a:t>
            </a:r>
            <a:endParaRPr b="0" i="0" sz="20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° DILAN RODRIGUEZ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° BRAYAN CORPA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° SAMUEL PEÑA</a:t>
            </a:r>
            <a:endParaRPr b="0" i="0" sz="16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106" name="Google Shape;106;p6"/>
          <p:cNvGraphicFramePr/>
          <p:nvPr/>
        </p:nvGraphicFramePr>
        <p:xfrm>
          <a:off x="891988" y="2075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{F0EDF4E9-53E3-4577-B3B9-F996CCFEEAB7}</a:tableStyleId>
              </a:tblPr>
              <a:tblGrid>
                <a:gridCol w="1120675"/>
                <a:gridCol w="3681500"/>
              </a:tblGrid>
              <a:tr h="53495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1800"/>
                        <a:buFont typeface="Work Sans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1. 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Presentación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2. 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Planteamiento del Problema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Justificación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4. 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Pregunta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5. 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General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6. 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Específico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7F7F7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7.</a:t>
                      </a:r>
                      <a:endParaRPr b="1" sz="1800" u="none" cap="none" strike="noStrike">
                        <a:solidFill>
                          <a:srgbClr val="7F7F7F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434343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Alcance del proyecto</a:t>
                      </a:r>
                      <a:endParaRPr sz="1800" u="none" cap="none" strike="noStrike">
                        <a:solidFill>
                          <a:srgbClr val="434343"/>
                        </a:solidFill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" name="Google Shape;107;p6"/>
          <p:cNvGraphicFramePr/>
          <p:nvPr/>
        </p:nvGraphicFramePr>
        <p:xfrm>
          <a:off x="5694175" y="2075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{F0EDF4E9-53E3-4577-B3B9-F996CCFEEAB7}</a:tableStyleId>
              </a:tblPr>
              <a:tblGrid>
                <a:gridCol w="888600"/>
                <a:gridCol w="4736500"/>
              </a:tblGrid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8.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 Módulos del Sistema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9.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Distribución de Funciones del Equipo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Flujo General del Sistema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11.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Casos De Uso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12.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Mockups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53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13.</a:t>
                      </a:r>
                      <a:endParaRPr b="1"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CO" sz="1800" u="none" cap="none" strike="noStrike">
                          <a:solidFill>
                            <a:srgbClr val="888888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Versionamiento</a:t>
                      </a:r>
                      <a:endParaRPr sz="1800" u="none" cap="none" strike="noStrike">
                        <a:solidFill>
                          <a:srgbClr val="888888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894802" y="2306409"/>
            <a:ext cx="1070220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-CO" sz="50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1. FORMULACIÓN DEL PROYECTO</a:t>
            </a:r>
            <a:endParaRPr b="0" i="0" sz="50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cxnSp>
        <p:nvCxnSpPr>
          <p:cNvPr id="113" name="Google Shape;113;p21"/>
          <p:cNvCxnSpPr/>
          <p:nvPr/>
        </p:nvCxnSpPr>
        <p:spPr>
          <a:xfrm>
            <a:off x="5122102" y="4116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21"/>
          <p:cNvCxnSpPr/>
          <p:nvPr/>
        </p:nvCxnSpPr>
        <p:spPr>
          <a:xfrm>
            <a:off x="14321625" y="-2491725"/>
            <a:ext cx="2151600" cy="21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/>
        </p:nvSpPr>
        <p:spPr>
          <a:xfrm>
            <a:off x="1091665" y="2232625"/>
            <a:ext cx="100086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DOTACIONES Y FORTUNA IJ Es una empresa </a:t>
            </a:r>
            <a:r>
              <a:rPr b="1" i="0" lang="es-CO" sz="24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PyME</a:t>
            </a:r>
            <a:r>
              <a:rPr b="0" i="0" lang="es-CO" sz="24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 que se enfoca en elaborar dotaciones para distintas empresas y universidades de toda la ciudad, ubicada en Bogotá, Colombia.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A3838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 Llevamos a cabo una investigación y planificamos la solución </a:t>
            </a:r>
            <a:r>
              <a:rPr lang="es-CO" sz="2400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más</a:t>
            </a:r>
            <a:r>
              <a:rPr b="0" i="0" lang="es-CO" sz="24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 coherente, apropiada manejando costos de implementación prudentes para que el proyecto sea viable y exitoso.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548135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575934" y="493363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8396233" y="4870119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8575934" y="5208673"/>
            <a:ext cx="194527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NOTA: </a:t>
            </a:r>
            <a:r>
              <a:rPr b="0" i="0" lang="es-CO" sz="1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 tamaño del logo de la marca externa no debe superar el tamaño del logo SENA.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5934" y="4812688"/>
            <a:ext cx="2524401" cy="97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 txBox="1"/>
          <p:nvPr/>
        </p:nvSpPr>
        <p:spPr>
          <a:xfrm>
            <a:off x="3098196" y="1409981"/>
            <a:ext cx="5995608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2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PRESENTACIÓN PROYECTO</a:t>
            </a:r>
            <a:endParaRPr b="1" i="0" sz="32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833918" y="672686"/>
            <a:ext cx="6256967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27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t/>
            </a:r>
            <a:endParaRPr b="1" i="0" sz="27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5300" y="1039136"/>
            <a:ext cx="4076700" cy="41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346528" y="1752652"/>
            <a:ext cx="7460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DOTACIONES Y FORTUNA IJ actualmente presenta dificultades por confusiones entre sus administrador, funcionarios y clientes ya que no cuentan con un sistema de integración lógico que conecte las gestiones internas de la empresa y las gestiones con sus clientes generados por errores humanos que se demarcan en estas áreas:</a:t>
            </a:r>
            <a:b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b="0" i="0" sz="2000" u="none" cap="none" strike="noStrike">
              <a:solidFill>
                <a:srgbClr val="3A3838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O" sz="18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° Administrar Inventario.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° Gestión de Clientes y Pqrs.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° Coordinar Ventas.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° Gestión de pedidos.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° Ti</a:t>
            </a:r>
            <a:r>
              <a:rPr lang="es-CO" sz="2000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ckets</a:t>
            </a:r>
            <a:r>
              <a:rPr b="0" i="0" lang="es-CO" sz="2000" u="none" cap="none" strike="noStrike">
                <a:solidFill>
                  <a:srgbClr val="3A3838"/>
                </a:solidFill>
                <a:latin typeface="Work Sans"/>
                <a:ea typeface="Work Sans"/>
                <a:cs typeface="Work Sans"/>
                <a:sym typeface="Work Sans"/>
              </a:rPr>
              <a:t> de venta.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 amt="98000"/>
          </a:blip>
          <a:srcRect b="0" l="0" r="0" t="0"/>
          <a:stretch/>
        </p:blipFill>
        <p:spPr>
          <a:xfrm>
            <a:off x="8115300" y="5162524"/>
            <a:ext cx="4076700" cy="169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5040036" y="492794"/>
            <a:ext cx="3809967" cy="74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b="0" i="0" sz="14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4577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0" y="5093074"/>
            <a:ext cx="1714500" cy="1764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5040036" y="1764926"/>
            <a:ext cx="6561414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 requiere el desarrollo de un sistema de información que facilitará el control de entradas y salidas de implementos en tiempo real, generará alertas para las revisiones periódicas, llevará un registro actualizado mejorando la gestión de los procesos y mantendrá un listado preciso del stock. De esta manera, se optimizarán los procesos administrativos, se mejorará la comunicación interna y se contribuirá al fortalecimiento de la gestión y calidad del servicio ofrecido por Dotaciones y fortuna IJ</a:t>
            </a:r>
            <a:endParaRPr b="0" i="0" sz="16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859012eb_0_1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PREGUNTA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og is sitting in the back seat of a car with a question mark on its face . (proporcionado por Tenor)" id="147" name="Google Shape;147;g3a5859012eb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325" y="4189850"/>
            <a:ext cx="1892425" cy="1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a5859012eb_0_13" title="images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5175" y="5381445"/>
            <a:ext cx="2213725" cy="11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a5859012eb_0_13"/>
          <p:cNvSpPr txBox="1"/>
          <p:nvPr/>
        </p:nvSpPr>
        <p:spPr>
          <a:xfrm>
            <a:off x="7024550" y="1345374"/>
            <a:ext cx="5256300" cy="2540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O" sz="2300" u="none" cap="none" strike="noStrike">
                <a:solidFill>
                  <a:srgbClr val="548135"/>
                </a:solidFill>
                <a:latin typeface="Work Sans"/>
                <a:ea typeface="Work Sans"/>
                <a:cs typeface="Work Sans"/>
                <a:sym typeface="Work Sans"/>
              </a:rPr>
              <a:t>¿Cómo puede un sistema información mejorar el control de pedidos, inventario y producción en la empresa de dotaciones y bordados, reemplazando los registros manuales actuales?</a:t>
            </a:r>
            <a:endParaRPr b="0" i="0" sz="2300" u="none" cap="none" strike="noStrike">
              <a:solidFill>
                <a:srgbClr val="548135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50" name="Google Shape;150;g3a5859012eb_0_13" title="OBJETIVO GENERAL - visual selectio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345375"/>
            <a:ext cx="6819900" cy="5434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5859012eb_0_5"/>
          <p:cNvSpPr txBox="1"/>
          <p:nvPr/>
        </p:nvSpPr>
        <p:spPr>
          <a:xfrm>
            <a:off x="493961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g3a5859012eb_0_5"/>
          <p:cNvSpPr txBox="1"/>
          <p:nvPr/>
        </p:nvSpPr>
        <p:spPr>
          <a:xfrm>
            <a:off x="448950" y="1543050"/>
            <a:ext cx="112941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2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Desarrollar un sistema de información integrado que unifique la gestión de relaciones con el cliente (CRM) y el control de inventario perpetuo para la empresa Dotaciones y Fortuna IJ, permitiendo la trazabilidad en tiempo real de los productos y la optimización de la atención al cliente mediante un flujos de datos.</a:t>
            </a:r>
            <a:endParaRPr b="0" i="0" sz="2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3d White people with dart and target. Success in business. (proporcionado por Getty Images)" id="157" name="Google Shape;157;g3a5859012eb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228" y="3825934"/>
            <a:ext cx="3487324" cy="26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 importancia de establecerse metas | León de Ventas" id="158" name="Google Shape;158;g3a5859012eb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094935"/>
            <a:ext cx="5391151" cy="23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318364" y="1694199"/>
            <a:ext cx="11417400" cy="60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06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AutoNum type="arabicPeriod"/>
            </a:pPr>
            <a:r>
              <a:rPr b="1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Levantamiento de Requisitos: 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Identificar y documentar las necesidades funcionales y no funcionales para establecer el alcance del sistema de integración lógico.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AutoNum type="arabicPeriod"/>
            </a:pPr>
            <a:r>
              <a:rPr b="1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Diseño del Sistema: 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Modelar la arquitectura del software (</a:t>
            </a: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) que garantice la integridad de la información en el stock y las ventas.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AutoNum type="arabicPeriod"/>
            </a:pPr>
            <a:r>
              <a:rPr b="1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Desarrollo de Módulos: 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Codificar los módulos de gestión de inventario en tiempo real, registro de pedidos y generación automática de tiquetes de venta para eliminar los errores humanos detectados.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AutoNum type="arabicPeriod"/>
            </a:pPr>
            <a:r>
              <a:rPr b="1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Gestión de Clientes (PQRS): 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Implementar una interfaz de comunicación que permita el seguimiento de peticiones, quejas, reclamos y sugerencias para fortalecer el servicio postventa.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ork Sans Light"/>
              <a:buAutoNum type="arabicPeriod"/>
            </a:pPr>
            <a:r>
              <a:rPr b="1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Pruebas y Despliegue</a:t>
            </a:r>
            <a:r>
              <a:rPr b="0" i="0" lang="es-CO" sz="16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: Realizar pruebas de usuario y de sistema para asegurar que el control de entradas y salidas de implementos genere alertas precisas antes de la puesta en marcha definitiva.</a:t>
            </a:r>
            <a:endParaRPr/>
          </a:p>
          <a:p>
            <a:pPr indent="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170" name="Google Shape;170;p23"/>
          <p:cNvGraphicFramePr/>
          <p:nvPr/>
        </p:nvGraphicFramePr>
        <p:xfrm>
          <a:off x="6210925" y="3104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{F0EDF4E9-53E3-4577-B3B9-F996CCFEEAB7}</a:tableStyleId>
              </a:tblPr>
              <a:tblGrid>
                <a:gridCol w="1663725"/>
                <a:gridCol w="1704050"/>
                <a:gridCol w="2271975"/>
              </a:tblGrid>
              <a:tr h="28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 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O" sz="1600" u="none" cap="none" strike="noStrike"/>
                        <a:t>LIMITACIONES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b"/>
                </a:tc>
              </a:tr>
              <a:tr h="529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O" sz="1400" u="none" cap="none" strike="noStrike"/>
                        <a:t>Categoría</a:t>
                      </a:r>
                      <a:endParaRPr b="1" i="0" sz="14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Limitación / Restricción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Descripción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77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O" sz="1400" u="none" cap="none" strike="noStrike"/>
                        <a:t>Contabilidad</a:t>
                      </a:r>
                      <a:endParaRPr b="1" i="0" sz="14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No avanzada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El software no realizará gestión de nómina ni cálculo de impuestos.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904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O" sz="1400" u="none" cap="none" strike="noStrike"/>
                        <a:t>Finanzas</a:t>
                      </a:r>
                      <a:endParaRPr b="1" i="0" sz="14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Pasarelas de Pago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El sistema no contará con integración directa con plataformas de pago.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83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O" sz="1400" u="none" cap="none" strike="noStrike"/>
                        <a:t>Proveedores</a:t>
                      </a:r>
                      <a:endParaRPr b="1" i="0" sz="14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No automatizado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No se realizarán compras automáticas; el sistema solo emitirá alertas de stock.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71" name="Google Shape;171;p23"/>
          <p:cNvGraphicFramePr/>
          <p:nvPr/>
        </p:nvGraphicFramePr>
        <p:xfrm>
          <a:off x="341309" y="1834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{F0EDF4E9-53E3-4577-B3B9-F996CCFEEAB7}</a:tableStyleId>
              </a:tblPr>
              <a:tblGrid>
                <a:gridCol w="1728125"/>
                <a:gridCol w="3911650"/>
              </a:tblGrid>
              <a:tr h="308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400" u="none" cap="none" strike="noStrike"/>
                        <a:t>                                        </a:t>
                      </a:r>
                      <a:r>
                        <a:rPr b="1" lang="es-CO" sz="1400" u="none" cap="none" strike="noStrike"/>
                        <a:t>ALCANCES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b"/>
                </a:tc>
                <a:tc hMerge="1"/>
              </a:tr>
              <a:tr h="34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ITEM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Descripción del Alcance 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80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Reportes y PQRS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Gestión de tickets (PQRS) y generación de informes detallados de movimientos y ventas.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654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Gestión de Inventario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Control en tiempo real (perpetuo) con alertas automáticas de stock mínimo.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  <a:tr h="66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/>
                        <a:t>Perfiles de Usuario</a:t>
                      </a:r>
                      <a:endParaRPr b="1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cap="none" strike="noStrike"/>
                        <a:t>Roles diferenciados para Administrador (gestión total) y Operativos (ventas y almacén).</a:t>
                      </a:r>
                      <a:endParaRPr b="0" i="0" sz="12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pic>
        <p:nvPicPr>
          <p:cNvPr id="172" name="Google Shape;172;p23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309" y="5397946"/>
            <a:ext cx="2807302" cy="1043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eople planning vector illustration, cartoon flat employee character team working together on business plan isolated on white (proporcionada por Getty Images)" id="173" name="Google Shape;17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4413" y="1834748"/>
            <a:ext cx="3324961" cy="102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859012eb_0_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g3a5859012eb_0_9"/>
          <p:cNvGraphicFramePr/>
          <p:nvPr/>
        </p:nvGraphicFramePr>
        <p:xfrm>
          <a:off x="456236" y="19295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{02556CC0-91EB-4E56-BA2C-873465376549}</a:tableStyleId>
              </a:tblPr>
              <a:tblGrid>
                <a:gridCol w="2826600"/>
                <a:gridCol w="8319550"/>
              </a:tblGrid>
              <a:tr h="621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20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MÓDULO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24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DESCRIPCIÓN GENERAL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DE </a:t>
                      </a:r>
                      <a:r>
                        <a:rPr b="1" lang="es-CO" sz="1600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USUARIOS Y PQRS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de perfiles de clientes, tallas e historial de dotación (CRM) y control de PQRS.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600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CONTROL DE</a:t>
                      </a:r>
                      <a:r>
                        <a:rPr b="1"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INVENTARIO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Control de entradas y salidas, generando reportes de existencias en tiempo real con alertas de stock mínimo.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600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COORDINAR VENTAS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O" sz="1600" u="none" cap="none" strike="noStrike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Gestionar todo el ciclo, desde la cotización y cobranza.</a:t>
                      </a:r>
                      <a:endParaRPr sz="16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DE PEDIDOS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Genera un reporte para la empresa y el cliente de todo el ciclo de la orden, desde la compra hasta la entrega final.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O" sz="1600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TIQUETES</a:t>
                      </a:r>
                      <a:r>
                        <a:rPr b="1" lang="es-CO" sz="1600" u="none" cap="none" strike="noStrike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DE VENTA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CO" sz="1600" u="none" cap="none" strike="noStrike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Genera la emisión, personalización y reporte de comprobantes de venta, en tiempo real.</a:t>
                      </a:r>
                      <a:endParaRPr sz="16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g3a5859012eb_0_9"/>
          <p:cNvSpPr txBox="1"/>
          <p:nvPr/>
        </p:nvSpPr>
        <p:spPr>
          <a:xfrm>
            <a:off x="-185575" y="788750"/>
            <a:ext cx="835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6e5bd6c5_2_6"/>
          <p:cNvSpPr txBox="1"/>
          <p:nvPr/>
        </p:nvSpPr>
        <p:spPr>
          <a:xfrm>
            <a:off x="894802" y="2306409"/>
            <a:ext cx="10702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-CO" sz="50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1. FORMULACIÓN DEL PROYECTO</a:t>
            </a:r>
            <a:endParaRPr b="0" i="0" sz="50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cxnSp>
        <p:nvCxnSpPr>
          <p:cNvPr id="186" name="Google Shape;186;g3966e5bd6c5_2_6"/>
          <p:cNvCxnSpPr/>
          <p:nvPr/>
        </p:nvCxnSpPr>
        <p:spPr>
          <a:xfrm>
            <a:off x="5122102" y="4116162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g3966e5bd6c5_2_6"/>
          <p:cNvCxnSpPr/>
          <p:nvPr/>
        </p:nvCxnSpPr>
        <p:spPr>
          <a:xfrm>
            <a:off x="14321625" y="-2491725"/>
            <a:ext cx="2151600" cy="21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6e5bd6c5_1_440"/>
          <p:cNvSpPr txBox="1"/>
          <p:nvPr/>
        </p:nvSpPr>
        <p:spPr>
          <a:xfrm>
            <a:off x="456225" y="416700"/>
            <a:ext cx="1107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</a:t>
            </a: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MIENTOS NO FUNCIONALES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66e5bd6c5_1_440"/>
          <p:cNvSpPr txBox="1"/>
          <p:nvPr/>
        </p:nvSpPr>
        <p:spPr>
          <a:xfrm>
            <a:off x="456225" y="1754400"/>
            <a:ext cx="4664700" cy="3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RE-NF1. Seguridad de la información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RE-NF2. Disponibilidad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RE-NF3. Respaldo de la información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RE-NF4. Integridad de los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RE-NF5. Tiempo de respuesta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RE-NF6. Usabilidad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RE-NF7. Escalabilidad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RE-NF8. Compatibilidad tecnológica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RE-NF9. Mantenimiento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RE-NF10. Confiabilidad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rPr b="0" i="0" lang="es-CO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66e5bd6c5_1_354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FUNCIONALES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966e5bd6c5_1_354"/>
          <p:cNvSpPr txBox="1"/>
          <p:nvPr/>
        </p:nvSpPr>
        <p:spPr>
          <a:xfrm>
            <a:off x="205800" y="2253925"/>
            <a:ext cx="57771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RE-F1. Control del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RE-F2. Registro de materiales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RE-F3. Control de entradas de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RE-F4. Control de salidas de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RE-F5. Consulta del inventario en tiempo real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RE-F6. Gestión de proveedores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RE-F7. Control de niveles mínimos de inventario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600">
                <a:solidFill>
                  <a:schemeClr val="dk1"/>
                </a:solidFill>
              </a:rPr>
              <a:t>RE-F8. Generación de alertas de inventario bajo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rPr b="0" i="0" lang="es-CO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966e5bd6c5_1_354"/>
          <p:cNvSpPr txBox="1"/>
          <p:nvPr/>
        </p:nvSpPr>
        <p:spPr>
          <a:xfrm>
            <a:off x="6414900" y="2368650"/>
            <a:ext cx="5777100" cy="29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RE-F9. Gestión de usuarios y roles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RE-F10. Generación de reportes de inventario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RE-F11. Historial de movimientos de inventario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RE-F12. Optimización del control de materiales</a:t>
            </a:r>
            <a:r>
              <a:rPr lang="es-CO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RE-F13. Reducción de pérdidas de materiales</a:t>
            </a:r>
            <a:r>
              <a:rPr lang="es-CO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RE-F14. Control de acceso al sistema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1500">
                <a:solidFill>
                  <a:schemeClr val="dk1"/>
                </a:solidFill>
              </a:rPr>
              <a:t>RE-F15. Apoyo a la toma de decisiones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rPr b="0" i="0" lang="es-CO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66e5bd6c5_1_269"/>
          <p:cNvSpPr txBox="1"/>
          <p:nvPr/>
        </p:nvSpPr>
        <p:spPr>
          <a:xfrm>
            <a:off x="470724" y="224375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NO FUNCIONALES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966e5bd6c5_1_269"/>
          <p:cNvSpPr txBox="1"/>
          <p:nvPr/>
        </p:nvSpPr>
        <p:spPr>
          <a:xfrm>
            <a:off x="645650" y="1652900"/>
            <a:ext cx="41319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RU-NF1. Facilidad de uso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RU-NF2. Seguridad de acceso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RU-NF3. Control de roles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RU-NF4. Tiempo de respuesta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RU-NF5. Disponibilidad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RU-NF6. Confidencialidad de la información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RU-NF7. Compatibilidad con navegadores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RU-NF8. Recuperación de acceso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RU-NF9. Claridad en la visualización de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RU-NF10. Estabilidad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rPr b="0" i="0" lang="es-CO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66e5bd6c5_1_183"/>
          <p:cNvSpPr txBox="1"/>
          <p:nvPr/>
        </p:nvSpPr>
        <p:spPr>
          <a:xfrm>
            <a:off x="456224" y="416700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FUNCIONALES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6e5bd6c5_1_183"/>
          <p:cNvSpPr txBox="1"/>
          <p:nvPr/>
        </p:nvSpPr>
        <p:spPr>
          <a:xfrm>
            <a:off x="123700" y="1667400"/>
            <a:ext cx="3895500" cy="4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RU-F1. Registro de usuario</a:t>
            </a: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RU-F2. Inicio de sesión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RU-F3. Recuperación de contraseña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RU-F4. Gestión de roles de usuario</a:t>
            </a: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RU-F5. Consulta del inventario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RU-F6. Registro de materiales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RU-F7. Actualización de materiales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RU-F8. Eliminación de materiales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RU-F9. Registro de entradas de inventario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RU-F10. Registro de salidas de inventario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rPr b="0" i="0" lang="es-CO" sz="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66e5bd6c5_1_183"/>
          <p:cNvSpPr txBox="1"/>
          <p:nvPr/>
        </p:nvSpPr>
        <p:spPr>
          <a:xfrm>
            <a:off x="4744075" y="1667400"/>
            <a:ext cx="4958700" cy="3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RU-F11. Gestión de proveedores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RU-F12. Consulta del estado del inventario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RU-F13. Búsqueda de materiales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RU-F14. Visualización de alertas de inventario bajo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RU-F15. Generación de reportes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RU-F16. Consulta del historial de movimientos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RU-F17. Consulta de proveedores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RU-F18. Registro del uso de materiales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RU-F19. Actualización de información del inventario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RU-F20. Cierre de sesión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66e5bd6c5_1_12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FUNCIONALES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966e5bd6c5_1_12"/>
          <p:cNvSpPr txBox="1"/>
          <p:nvPr/>
        </p:nvSpPr>
        <p:spPr>
          <a:xfrm>
            <a:off x="280875" y="1470175"/>
            <a:ext cx="3388800" cy="5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RF1. Registro de usuario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RF2. Inicio de sesión</a:t>
            </a:r>
            <a:r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RF3. Cierre de sesión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RF4. Recuperación de contraseña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RF5. Registro de materiales</a:t>
            </a:r>
            <a:r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RF6. Consulta de materiales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RF7. Actualización de materiales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RF8. Eliminación de materiales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RF9. Registro de categorías de materiales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RF10. Gestión de proveedores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RF11. Registro de entrada de inventario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RF12. Registro de salida de inventario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RF13. Actualización automática del inventario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RF14. Consulta del estado del inventario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66e5bd6c5_1_12"/>
          <p:cNvSpPr txBox="1"/>
          <p:nvPr/>
        </p:nvSpPr>
        <p:spPr>
          <a:xfrm>
            <a:off x="4061150" y="1470175"/>
            <a:ext cx="33888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RF15. Control de inventario mínimo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RF16. Generación de alertas de inventario bajo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RF17. Historial de movimientos de inventario</a:t>
            </a:r>
            <a:r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RF18. Generación de reportes de inventario</a:t>
            </a:r>
            <a:r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RF19. Búsqueda de materiales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RF20. Control de acceso por usuario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RF21. Generación de recibos/tickets de pago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66e5bd6c5_1_98"/>
          <p:cNvSpPr txBox="1"/>
          <p:nvPr/>
        </p:nvSpPr>
        <p:spPr>
          <a:xfrm>
            <a:off x="456224" y="296875"/>
            <a:ext cx="10522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</a:t>
            </a: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NO FUNCIONALES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66e5bd6c5_1_98"/>
          <p:cNvSpPr txBox="1"/>
          <p:nvPr/>
        </p:nvSpPr>
        <p:spPr>
          <a:xfrm>
            <a:off x="123700" y="1667400"/>
            <a:ext cx="4811100" cy="3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RNF1. Seguridad de acceso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RNF2. Protección de datos</a:t>
            </a: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RNF3. Disponibilidad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RNF4. Facilidad de uso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RNF5. Tiempo de respuesta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RNF6. Integridad de la información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RNF7. Respaldo de la información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RNF8. Escalabilidad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RNF9. Compatibilidad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RNF10. Mantenimiento del sistema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6274f7451_0_32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96274f7451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425" y="1491782"/>
            <a:ext cx="7089325" cy="52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6274f7451_0_4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96274f7451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675" y="2493850"/>
            <a:ext cx="6037326" cy="34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96274f7451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93850"/>
            <a:ext cx="6095999" cy="34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