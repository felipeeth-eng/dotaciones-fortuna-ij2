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6858000" cx="12192000"/>
  <p:notesSz cx="6858000" cy="9144000"/>
  <p:embeddedFontLst>
    <p:embeddedFont>
      <p:font typeface="Work Sans Medium"/>
      <p:regular r:id="rId29"/>
      <p:bold r:id="rId30"/>
      <p:italic r:id="rId31"/>
      <p:boldItalic r:id="rId32"/>
    </p:embeddedFont>
    <p:embeddedFont>
      <p:font typeface="Work Sans ExtraBold"/>
      <p:bold r:id="rId33"/>
      <p:boldItalic r:id="rId34"/>
    </p:embeddedFont>
    <p:embeddedFont>
      <p:font typeface="Work Sans"/>
      <p:regular r:id="rId35"/>
      <p:bold r:id="rId36"/>
      <p:italic r:id="rId37"/>
      <p:boldItalic r:id="rId38"/>
    </p:embeddedFont>
    <p:embeddedFont>
      <p:font typeface="Work Sans Light"/>
      <p:regular r:id="rId39"/>
      <p:bold r:id="rId40"/>
      <p:italic r:id="rId41"/>
      <p:boldItalic r:id="rId42"/>
    </p:embeddedFont>
    <p:embeddedFont>
      <p:font typeface="Work Sans SemiBold"/>
      <p:regular r:id="rId43"/>
      <p:bold r:id="rId44"/>
      <p:italic r:id="rId45"/>
      <p:boldItalic r:id="rId46"/>
    </p:embeddedFont>
    <p:embeddedFont>
      <p:font typeface="Comfortaa"/>
      <p:regular r:id="rId47"/>
      <p:bold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95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87">
          <p15:clr>
            <a:srgbClr val="A4A3A4"/>
          </p15:clr>
        </p15:guide>
      </p15:sldGuideLst>
    </p:ext>
    <p:ext uri="GoogleSlidesCustomDataVersion2">
      <go:slidesCustomData xmlns:go="http://customooxmlschemas.google.com/" r:id="rId49" roundtripDataSignature="AMtx7mjNLIZVrWIs5SYpJ4jitrLQQvGG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EBFDBEF-D018-4F8D-83AA-C0E986D25111}">
  <a:tblStyle styleId="{1EBFDBEF-D018-4F8D-83AA-C0E986D2511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B5791F2A-53CE-4D49-901C-B13ED72E8839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95" orient="horz"/>
        <p:guide pos="3840"/>
        <p:guide pos="18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WorkSansLight-bold.fntdata"/><Relationship Id="rId42" Type="http://schemas.openxmlformats.org/officeDocument/2006/relationships/font" Target="fonts/WorkSansLight-boldItalic.fntdata"/><Relationship Id="rId41" Type="http://schemas.openxmlformats.org/officeDocument/2006/relationships/font" Target="fonts/WorkSansLight-italic.fntdata"/><Relationship Id="rId44" Type="http://schemas.openxmlformats.org/officeDocument/2006/relationships/font" Target="fonts/WorkSansSemiBold-bold.fntdata"/><Relationship Id="rId43" Type="http://schemas.openxmlformats.org/officeDocument/2006/relationships/font" Target="fonts/WorkSansSemiBold-regular.fntdata"/><Relationship Id="rId46" Type="http://schemas.openxmlformats.org/officeDocument/2006/relationships/font" Target="fonts/WorkSansSemiBold-boldItalic.fntdata"/><Relationship Id="rId45" Type="http://schemas.openxmlformats.org/officeDocument/2006/relationships/font" Target="fonts/WorkSansSemiBold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Comfortaa-bold.fntdata"/><Relationship Id="rId47" Type="http://schemas.openxmlformats.org/officeDocument/2006/relationships/font" Target="fonts/Comfortaa-regular.fntdata"/><Relationship Id="rId49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WorkSansMedium-italic.fntdata"/><Relationship Id="rId30" Type="http://schemas.openxmlformats.org/officeDocument/2006/relationships/font" Target="fonts/WorkSansMedium-bold.fntdata"/><Relationship Id="rId33" Type="http://schemas.openxmlformats.org/officeDocument/2006/relationships/font" Target="fonts/WorkSansExtraBold-bold.fntdata"/><Relationship Id="rId32" Type="http://schemas.openxmlformats.org/officeDocument/2006/relationships/font" Target="fonts/WorkSansMedium-boldItalic.fntdata"/><Relationship Id="rId35" Type="http://schemas.openxmlformats.org/officeDocument/2006/relationships/font" Target="fonts/WorkSans-regular.fntdata"/><Relationship Id="rId34" Type="http://schemas.openxmlformats.org/officeDocument/2006/relationships/font" Target="fonts/WorkSansExtraBold-boldItalic.fntdata"/><Relationship Id="rId37" Type="http://schemas.openxmlformats.org/officeDocument/2006/relationships/font" Target="fonts/WorkSans-italic.fntdata"/><Relationship Id="rId36" Type="http://schemas.openxmlformats.org/officeDocument/2006/relationships/font" Target="fonts/WorkSans-bold.fntdata"/><Relationship Id="rId39" Type="http://schemas.openxmlformats.org/officeDocument/2006/relationships/font" Target="fonts/WorkSansLight-regular.fntdata"/><Relationship Id="rId38" Type="http://schemas.openxmlformats.org/officeDocument/2006/relationships/font" Target="fonts/WorkSans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font" Target="fonts/WorkSansMedium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O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5859012eb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g3a5859012eb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5859012eb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g3a5859012eb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5859012eb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g3a5859012eb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5859012eb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g3a5859012eb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5859012eb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g3a5859012eb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620b154da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g39620b154da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620b154da_1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g39620b154da_1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9620b154da_1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g39620b154da_1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620b154da_1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g39620b154da_1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9620b154da_1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g39620b154da_1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9620b154da_1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g39620b154da_1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a5859012eb_1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g3a5859012eb_1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a5859012eb_1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g3a5859012eb_1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96205850e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g396205850e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4" name="Google Shape;24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0.pn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28.gif"/><Relationship Id="rId5" Type="http://schemas.openxmlformats.org/officeDocument/2006/relationships/image" Target="../media/image13.jpg"/><Relationship Id="rId6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4.jpg"/><Relationship Id="rId5" Type="http://schemas.openxmlformats.org/officeDocument/2006/relationships/image" Target="../media/image1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7.jpg"/><Relationship Id="rId5" Type="http://schemas.openxmlformats.org/officeDocument/2006/relationships/image" Target="../media/image1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19.png"/><Relationship Id="rId7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21.jpg"/><Relationship Id="rId5" Type="http://schemas.openxmlformats.org/officeDocument/2006/relationships/image" Target="../media/image26.gif"/><Relationship Id="rId6" Type="http://schemas.openxmlformats.org/officeDocument/2006/relationships/image" Target="../media/image22.jpg"/><Relationship Id="rId7" Type="http://schemas.openxmlformats.org/officeDocument/2006/relationships/image" Target="../media/image3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29.jpg"/><Relationship Id="rId5" Type="http://schemas.openxmlformats.org/officeDocument/2006/relationships/image" Target="../media/image27.jpg"/><Relationship Id="rId6" Type="http://schemas.openxmlformats.org/officeDocument/2006/relationships/image" Target="../media/image33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32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/>
        </p:nvSpPr>
        <p:spPr>
          <a:xfrm>
            <a:off x="1284625" y="2225150"/>
            <a:ext cx="9480600" cy="30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CO" sz="32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PRESENTACION PROYECTO SENA</a:t>
            </a:r>
            <a:endParaRPr b="1" i="0" sz="32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s-CO" sz="2600" u="none" cap="none" strike="noStrike">
                <a:solidFill>
                  <a:srgbClr val="6AA84F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Sistematización del Proceso de Ventas, Inventario y Producción en la Empresa: </a:t>
            </a:r>
            <a:r>
              <a:rPr b="0" i="0" lang="es-CO" sz="2400" u="none" cap="none" strike="noStrike">
                <a:solidFill>
                  <a:srgbClr val="6AA84F"/>
                </a:solidFill>
                <a:latin typeface="Work Sans"/>
                <a:ea typeface="Work Sans"/>
                <a:cs typeface="Work Sans"/>
                <a:sym typeface="Work Sans"/>
              </a:rPr>
              <a:t>DOTACIONES FORTUNA IJ</a:t>
            </a:r>
            <a:endParaRPr b="0" i="0" sz="34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1" i="0" sz="3200" u="none" cap="none" strike="noStrike">
              <a:solidFill>
                <a:srgbClr val="6AA84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9105900" y="4915707"/>
            <a:ext cx="1945270" cy="82903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9105900" y="4915707"/>
            <a:ext cx="194527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O" sz="1600" u="none" cap="none" strike="noStrike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Marca externa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9105900" y="5190743"/>
            <a:ext cx="194527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NOTA: </a:t>
            </a:r>
            <a:r>
              <a:rPr b="0" i="0" lang="es-CO" sz="1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El tamaño del logo de la marca externa no debe superar el tamaño del logo SENA.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25100" y="4915700"/>
            <a:ext cx="2524401" cy="979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/>
        </p:nvSpPr>
        <p:spPr>
          <a:xfrm>
            <a:off x="1744050" y="1025850"/>
            <a:ext cx="9183300" cy="3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s-CO" sz="3600" u="none" cap="none" strike="noStrike">
                <a:solidFill>
                  <a:srgbClr val="6AA84F"/>
                </a:solidFill>
                <a:latin typeface="Work Sans ExtraBold"/>
                <a:ea typeface="Work Sans ExtraBold"/>
                <a:cs typeface="Work Sans ExtraBold"/>
                <a:sym typeface="Work Sans ExtraBold"/>
              </a:rPr>
              <a:t>404 - BYTESBUILDERS</a:t>
            </a:r>
            <a:endParaRPr b="0" i="0" sz="3600" u="none" cap="none" strike="noStrike">
              <a:solidFill>
                <a:srgbClr val="6AA84F"/>
              </a:solidFill>
              <a:latin typeface="Work Sans ExtraBold"/>
              <a:ea typeface="Work Sans ExtraBold"/>
              <a:cs typeface="Work Sans ExtraBold"/>
              <a:sym typeface="Work Sans ExtraBold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1" i="0" sz="3200" u="none" cap="none" strike="noStrike">
              <a:solidFill>
                <a:srgbClr val="6AA84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1" i="0" sz="3200" u="none" cap="none" strike="noStrike">
              <a:solidFill>
                <a:srgbClr val="6AA84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1" i="0" sz="3200" u="none" cap="none" strike="noStrike">
              <a:solidFill>
                <a:srgbClr val="6AA84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2200" u="none" cap="none" strike="noStrike">
              <a:solidFill>
                <a:srgbClr val="6FA8DC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1" i="0" sz="6000" u="none" cap="none" strike="noStrik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03" name="Google Shape;103;p2"/>
          <p:cNvCxnSpPr/>
          <p:nvPr/>
        </p:nvCxnSpPr>
        <p:spPr>
          <a:xfrm>
            <a:off x="4972228" y="3324314"/>
            <a:ext cx="2247544" cy="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4" name="Google Shape;104;p2"/>
          <p:cNvSpPr txBox="1"/>
          <p:nvPr/>
        </p:nvSpPr>
        <p:spPr>
          <a:xfrm>
            <a:off x="3207449" y="2641950"/>
            <a:ext cx="6256500" cy="3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457200" lvl="0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s-CO" sz="3200" u="none" cap="none" strike="noStrik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INTEGRANTES:</a:t>
            </a:r>
            <a:endParaRPr b="0" i="0" sz="3200" u="none" cap="none" strike="noStrike">
              <a:solidFill>
                <a:schemeClr val="dk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6AA84F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CO" sz="3200" u="none" cap="none" strike="noStrike">
                <a:solidFill>
                  <a:srgbClr val="6AA84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   ° DILAN RODRIGUEZ</a:t>
            </a:r>
            <a:endParaRPr b="0" i="0" sz="3200" u="none" cap="none" strike="noStrike">
              <a:solidFill>
                <a:srgbClr val="6AA84F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s-CO" sz="3200" u="none" cap="none" strike="noStrike">
                <a:solidFill>
                  <a:srgbClr val="6AA84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   ° FELIPE LASPRILLA</a:t>
            </a:r>
            <a:endParaRPr b="0" i="0" sz="3200" u="none" cap="none" strike="noStrike">
              <a:solidFill>
                <a:srgbClr val="6AA84F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s-CO" sz="3200" u="none" cap="none" strike="noStrike">
                <a:solidFill>
                  <a:srgbClr val="6AA84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   ° ANTONY CARDENAS</a:t>
            </a:r>
            <a:endParaRPr b="0" i="0" sz="3200" u="none" cap="none" strike="noStrike">
              <a:solidFill>
                <a:srgbClr val="6AA84F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s-CO" sz="3200" u="none" cap="none" strike="noStrike">
                <a:solidFill>
                  <a:srgbClr val="6AA84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   °BRAYAN CORPA</a:t>
            </a:r>
            <a:endParaRPr b="0" i="0" sz="3200" u="none" cap="none" strike="noStrike">
              <a:solidFill>
                <a:srgbClr val="6AA84F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s-CO" sz="3200" u="none" cap="none" strike="noStrike">
                <a:solidFill>
                  <a:srgbClr val="6AA84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   °SAMUEL PEÑA</a:t>
            </a:r>
            <a:endParaRPr b="0" i="0" sz="3200" u="none" cap="none" strike="noStrike">
              <a:solidFill>
                <a:srgbClr val="6AA84F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6AA84F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Work Sans Light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 txBox="1"/>
          <p:nvPr/>
        </p:nvSpPr>
        <p:spPr>
          <a:xfrm>
            <a:off x="456236" y="416690"/>
            <a:ext cx="9815809" cy="5278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TABLA DE CONTENIDO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0" name="Google Shape;110;p6"/>
          <p:cNvGraphicFramePr/>
          <p:nvPr/>
        </p:nvGraphicFramePr>
        <p:xfrm>
          <a:off x="1720338" y="1871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{1EBFDBEF-D018-4F8D-83AA-C0E986D25111}</a:tableStyleId>
              </a:tblPr>
              <a:tblGrid>
                <a:gridCol w="778500"/>
                <a:gridCol w="7972825"/>
              </a:tblGrid>
              <a:tr h="381000">
                <a:tc>
                  <a:txBody>
                    <a:bodyPr/>
                    <a:lstStyle/>
                    <a:p>
                      <a:pPr indent="-2286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Work Sans Medium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Work Sans Medium"/>
                        <a:ea typeface="Work Sans Medium"/>
                        <a:cs typeface="Work Sans Medium"/>
                        <a:sym typeface="Work Sans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cap="none" strike="noStrike">
                          <a:latin typeface="Work Sans Light"/>
                          <a:ea typeface="Work Sans Light"/>
                          <a:cs typeface="Work Sans Light"/>
                          <a:sym typeface="Work Sans Light"/>
                        </a:rPr>
                        <a:t>Nombre del Proyecto</a:t>
                      </a:r>
                      <a:endParaRPr sz="1600" u="none" cap="none" strike="noStrike">
                        <a:latin typeface="Work Sans Light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cap="none" strike="noStrike">
                          <a:latin typeface="Work Sans Medium"/>
                          <a:ea typeface="Work Sans Medium"/>
                          <a:cs typeface="Work Sans Medium"/>
                          <a:sym typeface="Work Sans Medium"/>
                        </a:rPr>
                        <a:t>  2. </a:t>
                      </a:r>
                      <a:endParaRPr sz="1600" u="none" cap="none" strike="noStrike">
                        <a:latin typeface="Work Sans Medium"/>
                        <a:ea typeface="Work Sans Medium"/>
                        <a:cs typeface="Work Sans Medium"/>
                        <a:sym typeface="Work Sans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cap="none" strike="noStrike">
                          <a:latin typeface="Work Sans Light"/>
                          <a:ea typeface="Work Sans Light"/>
                          <a:cs typeface="Work Sans Light"/>
                          <a:sym typeface="Work Sans Light"/>
                        </a:rPr>
                        <a:t>Planteamiento del Problema</a:t>
                      </a:r>
                      <a:endParaRPr sz="1600" u="none" cap="none" strike="noStrike">
                        <a:latin typeface="Work Sans Light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cap="none" strike="noStrike">
                          <a:latin typeface="Work Sans Medium"/>
                          <a:ea typeface="Work Sans Medium"/>
                          <a:cs typeface="Work Sans Medium"/>
                          <a:sym typeface="Work Sans Medium"/>
                        </a:rPr>
                        <a:t>  3.</a:t>
                      </a:r>
                      <a:endParaRPr sz="1600" u="none" cap="none" strike="noStrike">
                        <a:latin typeface="Work Sans Medium"/>
                        <a:ea typeface="Work Sans Medium"/>
                        <a:cs typeface="Work Sans Medium"/>
                        <a:sym typeface="Work Sans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cap="none" strike="noStrike">
                          <a:latin typeface="Work Sans Light"/>
                          <a:ea typeface="Work Sans Light"/>
                          <a:cs typeface="Work Sans Light"/>
                          <a:sym typeface="Work Sans Light"/>
                        </a:rPr>
                        <a:t>Justificación</a:t>
                      </a:r>
                      <a:endParaRPr sz="1600" u="none" cap="none" strike="noStrike">
                        <a:latin typeface="Work Sans Light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cap="none" strike="noStrike">
                          <a:latin typeface="Work Sans Medium"/>
                          <a:ea typeface="Work Sans Medium"/>
                          <a:cs typeface="Work Sans Medium"/>
                          <a:sym typeface="Work Sans Medium"/>
                        </a:rPr>
                        <a:t>  4. </a:t>
                      </a:r>
                      <a:endParaRPr sz="1600" u="none" cap="none" strike="noStrike">
                        <a:latin typeface="Work Sans Medium"/>
                        <a:ea typeface="Work Sans Medium"/>
                        <a:cs typeface="Work Sans Medium"/>
                        <a:sym typeface="Work Sans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cap="none" strike="noStrike">
                          <a:latin typeface="Work Sans Light"/>
                          <a:ea typeface="Work Sans Light"/>
                          <a:cs typeface="Work Sans Light"/>
                          <a:sym typeface="Work Sans Light"/>
                        </a:rPr>
                        <a:t>Pregunta del Proyecto</a:t>
                      </a:r>
                      <a:endParaRPr sz="1600" u="none" cap="none" strike="noStrike">
                        <a:latin typeface="Work Sans Light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cap="none" strike="noStrike">
                          <a:latin typeface="Work Sans Medium"/>
                          <a:ea typeface="Work Sans Medium"/>
                          <a:cs typeface="Work Sans Medium"/>
                          <a:sym typeface="Work Sans Medium"/>
                        </a:rPr>
                        <a:t>  5. </a:t>
                      </a:r>
                      <a:endParaRPr sz="1600" u="none" cap="none" strike="noStrike">
                        <a:latin typeface="Work Sans Medium"/>
                        <a:ea typeface="Work Sans Medium"/>
                        <a:cs typeface="Work Sans Medium"/>
                        <a:sym typeface="Work Sans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cap="none" strike="noStrike">
                          <a:latin typeface="Work Sans Light"/>
                          <a:ea typeface="Work Sans Light"/>
                          <a:cs typeface="Work Sans Light"/>
                          <a:sym typeface="Work Sans Light"/>
                        </a:rPr>
                        <a:t>Objetivo General</a:t>
                      </a:r>
                      <a:endParaRPr sz="1600" u="none" cap="none" strike="noStrike">
                        <a:latin typeface="Work Sans Light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cap="none" strike="noStrike">
                          <a:latin typeface="Work Sans Medium"/>
                          <a:ea typeface="Work Sans Medium"/>
                          <a:cs typeface="Work Sans Medium"/>
                          <a:sym typeface="Work Sans Medium"/>
                        </a:rPr>
                        <a:t>  6. </a:t>
                      </a:r>
                      <a:endParaRPr sz="1600" u="none" cap="none" strike="noStrike">
                        <a:latin typeface="Work Sans Medium"/>
                        <a:ea typeface="Work Sans Medium"/>
                        <a:cs typeface="Work Sans Medium"/>
                        <a:sym typeface="Work Sans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cap="none" strike="noStrike">
                          <a:latin typeface="Work Sans Light"/>
                          <a:ea typeface="Work Sans Light"/>
                          <a:cs typeface="Work Sans Light"/>
                          <a:sym typeface="Work Sans Light"/>
                        </a:rPr>
                        <a:t>Objetivo Específico</a:t>
                      </a:r>
                      <a:endParaRPr sz="1600" u="none" cap="none" strike="noStrike">
                        <a:latin typeface="Work Sans Light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cap="none" strike="noStrike">
                          <a:latin typeface="Work Sans Medium"/>
                          <a:ea typeface="Work Sans Medium"/>
                          <a:cs typeface="Work Sans Medium"/>
                          <a:sym typeface="Work Sans Medium"/>
                        </a:rPr>
                        <a:t>  7.</a:t>
                      </a:r>
                      <a:endParaRPr sz="1600" u="none" cap="none" strike="noStrike">
                        <a:latin typeface="Work Sans Medium"/>
                        <a:ea typeface="Work Sans Medium"/>
                        <a:cs typeface="Work Sans Medium"/>
                        <a:sym typeface="Work Sans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cap="none" strike="noStrike">
                          <a:latin typeface="Work Sans Light"/>
                          <a:ea typeface="Work Sans Light"/>
                          <a:cs typeface="Work Sans Light"/>
                          <a:sym typeface="Work Sans Light"/>
                        </a:rPr>
                        <a:t>Alcance del proyecto</a:t>
                      </a:r>
                      <a:endParaRPr sz="1600" u="none" cap="none" strike="noStrike">
                        <a:latin typeface="Work Sans Light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cap="none" strike="noStrike">
                          <a:latin typeface="Work Sans Medium"/>
                          <a:ea typeface="Work Sans Medium"/>
                          <a:cs typeface="Work Sans Medium"/>
                          <a:sym typeface="Work Sans Medium"/>
                        </a:rPr>
                        <a:t>  8.</a:t>
                      </a:r>
                      <a:endParaRPr sz="1600" u="none" cap="none" strike="noStrike">
                        <a:latin typeface="Work Sans Medium"/>
                        <a:ea typeface="Work Sans Medium"/>
                        <a:cs typeface="Work Sans Medium"/>
                        <a:sym typeface="Work Sans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cap="none" strike="noStrike">
                          <a:latin typeface="Work Sans Light"/>
                          <a:ea typeface="Work Sans Light"/>
                          <a:cs typeface="Work Sans Light"/>
                          <a:sym typeface="Work Sans Light"/>
                        </a:rPr>
                        <a:t>Módulos del Sistema</a:t>
                      </a:r>
                      <a:endParaRPr sz="1600" u="none" cap="none" strike="noStrike">
                        <a:latin typeface="Work Sans Light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cap="none" strike="noStrike">
                          <a:latin typeface="Work Sans Medium"/>
                          <a:ea typeface="Work Sans Medium"/>
                          <a:cs typeface="Work Sans Medium"/>
                          <a:sym typeface="Work Sans Medium"/>
                        </a:rPr>
                        <a:t>  9.</a:t>
                      </a:r>
                      <a:endParaRPr sz="1600" u="none" cap="none" strike="noStrike">
                        <a:latin typeface="Work Sans Medium"/>
                        <a:ea typeface="Work Sans Medium"/>
                        <a:cs typeface="Work Sans Medium"/>
                        <a:sym typeface="Work Sans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cap="none" strike="noStrike">
                          <a:latin typeface="Work Sans Light"/>
                          <a:ea typeface="Work Sans Light"/>
                          <a:cs typeface="Work Sans Light"/>
                          <a:sym typeface="Work Sans Light"/>
                        </a:rPr>
                        <a:t>Distribución de Funciones del Equipo</a:t>
                      </a:r>
                      <a:endParaRPr sz="1600" u="none" cap="none" strike="noStrike">
                        <a:latin typeface="Work Sans Light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cap="none" strike="noStrike">
                          <a:latin typeface="Work Sans Medium"/>
                          <a:ea typeface="Work Sans Medium"/>
                          <a:cs typeface="Work Sans Medium"/>
                          <a:sym typeface="Work Sans Medium"/>
                        </a:rPr>
                        <a:t> 10.</a:t>
                      </a:r>
                      <a:endParaRPr sz="1600" u="none" cap="none" strike="noStrike">
                        <a:latin typeface="Work Sans Medium"/>
                        <a:ea typeface="Work Sans Medium"/>
                        <a:cs typeface="Work Sans Medium"/>
                        <a:sym typeface="Work Sans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cap="none" strike="noStrike">
                          <a:latin typeface="Work Sans Light"/>
                          <a:ea typeface="Work Sans Light"/>
                          <a:cs typeface="Work Sans Light"/>
                          <a:sym typeface="Work Sans Light"/>
                        </a:rPr>
                        <a:t>Flujo General del Sistema</a:t>
                      </a:r>
                      <a:endParaRPr sz="1600" u="none" cap="none" strike="noStrike">
                        <a:latin typeface="Work Sans Light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 txBox="1"/>
          <p:nvPr/>
        </p:nvSpPr>
        <p:spPr>
          <a:xfrm>
            <a:off x="958200" y="1609975"/>
            <a:ext cx="102756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b="0" i="0" lang="es-CO" sz="8000" u="none" cap="none" strike="noStrike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PLANTEAMIENTO DEL PROYECTO</a:t>
            </a:r>
            <a:endParaRPr b="0" i="0" sz="8000" u="none" cap="none" strike="noStrike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cxnSp>
        <p:nvCxnSpPr>
          <p:cNvPr id="116" name="Google Shape;116;p3"/>
          <p:cNvCxnSpPr/>
          <p:nvPr/>
        </p:nvCxnSpPr>
        <p:spPr>
          <a:xfrm>
            <a:off x="4972230" y="4641533"/>
            <a:ext cx="22476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1" name="Google Shape;121;p4"/>
          <p:cNvCxnSpPr/>
          <p:nvPr/>
        </p:nvCxnSpPr>
        <p:spPr>
          <a:xfrm>
            <a:off x="125968" y="1085770"/>
            <a:ext cx="1425900" cy="0"/>
          </a:xfrm>
          <a:prstGeom prst="straightConnector1">
            <a:avLst/>
          </a:prstGeom>
          <a:noFill/>
          <a:ln cap="flat" cmpd="sng" w="12700">
            <a:solidFill>
              <a:srgbClr val="4D4D4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22" name="Google Shape;12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48250" y="3709075"/>
            <a:ext cx="4543749" cy="314895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/>
          <p:cNvSpPr txBox="1"/>
          <p:nvPr/>
        </p:nvSpPr>
        <p:spPr>
          <a:xfrm>
            <a:off x="8149700" y="1927350"/>
            <a:ext cx="4176600" cy="7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i="0" lang="es-CO" sz="2700" u="none" cap="none" strike="noStrike">
                <a:solidFill>
                  <a:srgbClr val="38AA00"/>
                </a:solidFill>
                <a:latin typeface="Arial"/>
                <a:ea typeface="Arial"/>
                <a:cs typeface="Arial"/>
                <a:sym typeface="Arial"/>
              </a:rPr>
              <a:t>PLANTEAMIENTO DEL PROBLEMÁTICA</a:t>
            </a:r>
            <a:endParaRPr b="1" i="0" sz="2700" u="none" cap="none" strike="noStrike">
              <a:solidFill>
                <a:srgbClr val="38AA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4" title="JUSTIFICACION - visual selection (2).png"/>
          <p:cNvPicPr preferRelativeResize="0"/>
          <p:nvPr/>
        </p:nvPicPr>
        <p:blipFill rotWithShape="1">
          <a:blip r:embed="rId5">
            <a:alphaModFix/>
          </a:blip>
          <a:srcRect b="660" l="-380" r="380" t="-660"/>
          <a:stretch/>
        </p:blipFill>
        <p:spPr>
          <a:xfrm>
            <a:off x="15139" y="30278"/>
            <a:ext cx="7962117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"/>
          <p:cNvSpPr txBox="1"/>
          <p:nvPr/>
        </p:nvSpPr>
        <p:spPr>
          <a:xfrm rot="2370658">
            <a:off x="8733014" y="1355696"/>
            <a:ext cx="3809967" cy="741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JUSTIFICACIÓN</a:t>
            </a:r>
            <a:endParaRPr b="0" i="0" sz="1400" u="none" cap="none" strike="noStrike">
              <a:solidFill>
                <a:srgbClr val="38AA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83975" y="3305425"/>
            <a:ext cx="3108024" cy="3649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5" title="PREGUNTA PROYECTO - visual selection (1)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139" y="0"/>
            <a:ext cx="9083976" cy="69549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5859012eb_0_13"/>
          <p:cNvSpPr txBox="1"/>
          <p:nvPr/>
        </p:nvSpPr>
        <p:spPr>
          <a:xfrm>
            <a:off x="456236" y="416690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PREGUNTA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dog is sitting in the back seat of a car with a question mark on its face . (proporcionado por Tenor)" id="137" name="Google Shape;137;g3a5859012eb_0_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91325" y="4189850"/>
            <a:ext cx="1892425" cy="189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g3a5859012eb_0_13" title="images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76475" y="5445295"/>
            <a:ext cx="1892425" cy="1125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3a5859012eb_0_13"/>
          <p:cNvSpPr txBox="1"/>
          <p:nvPr/>
        </p:nvSpPr>
        <p:spPr>
          <a:xfrm>
            <a:off x="7024550" y="1345375"/>
            <a:ext cx="5256300" cy="11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CO" sz="23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¿Cómo puede un sistema informacion mejorar el control de pedidos, inventario y producción en la empresa de dotaciones y bordados, reemplazando los registros manuales actuales?</a:t>
            </a:r>
            <a:endParaRPr b="0" i="0" sz="23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pic>
        <p:nvPicPr>
          <p:cNvPr id="140" name="Google Shape;140;g3a5859012eb_0_13" title="OBJETIVO GENERAL - visual selection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1262600"/>
            <a:ext cx="7024548" cy="583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5859012eb_0_5"/>
          <p:cNvSpPr txBox="1"/>
          <p:nvPr/>
        </p:nvSpPr>
        <p:spPr>
          <a:xfrm>
            <a:off x="493961" y="416565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OBJETIVO GENERAL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a5859012eb_0_5"/>
          <p:cNvSpPr txBox="1"/>
          <p:nvPr/>
        </p:nvSpPr>
        <p:spPr>
          <a:xfrm>
            <a:off x="205175" y="1655525"/>
            <a:ext cx="11294100" cy="13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-CO" sz="17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Llevar a cabo un sistema de  información Semiautomatizado que optimice la gestión de la información y el control operativo que permita sistematizar el proceso de ventas, inventario y producción, sustituyendo los registros manuales por un sistema.	</a:t>
            </a:r>
            <a:endParaRPr b="0" i="0" sz="17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3d White people with dart and target. Success in business. (proporcionado por Getty Images)" id="147" name="Google Shape;147;g3a5859012eb_0_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9878" y="3266038"/>
            <a:ext cx="3487324" cy="2615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tos gratis : flecha, concepto, crecimiento, empresario, mejora ..." id="148" name="Google Shape;148;g3a5859012eb_0_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87676" y="3170988"/>
            <a:ext cx="4197151" cy="280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5859012eb_0_17"/>
          <p:cNvSpPr txBox="1"/>
          <p:nvPr/>
        </p:nvSpPr>
        <p:spPr>
          <a:xfrm>
            <a:off x="456236" y="416690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OBJETIVO ESPECÍFICO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a5859012eb_0_17"/>
          <p:cNvSpPr txBox="1"/>
          <p:nvPr/>
        </p:nvSpPr>
        <p:spPr>
          <a:xfrm>
            <a:off x="291450" y="1697300"/>
            <a:ext cx="8285400" cy="28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Light"/>
              <a:buAutoNum type="arabicPeriod"/>
            </a:pPr>
            <a:r>
              <a:rPr b="0" i="0" lang="es-CO" sz="15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Analizar y definir los requerimientos del sistema de acuerdo a las necesidades de la empresa</a:t>
            </a:r>
            <a:br>
              <a:rPr b="0" i="0" lang="es-CO" sz="15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</a:br>
            <a:endParaRPr b="0" i="0" sz="15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175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Light"/>
              <a:buAutoNum type="arabicPeriod"/>
            </a:pPr>
            <a:r>
              <a:rPr b="0" i="0" lang="es-CO" sz="15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Diseñar un sistema con módulos interconectados (ventas, inventario y producción).</a:t>
            </a:r>
            <a:br>
              <a:rPr b="0" i="0" lang="es-CO" sz="15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</a:br>
            <a:endParaRPr b="0" i="0" sz="15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175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Light"/>
              <a:buAutoNum type="arabicPeriod"/>
            </a:pPr>
            <a:r>
              <a:rPr b="0" i="0" lang="es-CO" sz="15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Crear formularios digitales para (reportes empleados, procesos de ventas y satisfacción al cliente)</a:t>
            </a:r>
            <a:br>
              <a:rPr b="0" i="0" lang="es-CO" sz="15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</a:br>
            <a:endParaRPr b="0" i="0" sz="15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175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Light"/>
              <a:buAutoNum type="arabicPeriod"/>
            </a:pPr>
            <a:r>
              <a:rPr b="0" i="0" lang="es-CO" sz="15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Automatizar reportes de ventas, inventarios y entregas.</a:t>
            </a:r>
            <a:br>
              <a:rPr b="0" i="0" lang="es-CO" sz="15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</a:br>
            <a:endParaRPr b="0" i="0" sz="15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175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Light"/>
              <a:buAutoNum type="arabicPeriod"/>
            </a:pPr>
            <a:r>
              <a:rPr b="0" i="0" lang="es-CO" sz="15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Establecer alertas de faltantes de materiales para evitar retrasos.</a:t>
            </a:r>
            <a:endParaRPr b="0" i="0" sz="15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g3a5859012eb_0_17" title="download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14800" y="4723150"/>
            <a:ext cx="8199200" cy="173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5859012eb_0_33"/>
          <p:cNvSpPr txBox="1"/>
          <p:nvPr/>
        </p:nvSpPr>
        <p:spPr>
          <a:xfrm>
            <a:off x="456236" y="416690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ALCANCE DEL PROYECTO</a:t>
            </a:r>
            <a:endParaRPr b="1" i="0" sz="3600" u="none" cap="none" strike="noStrike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t/>
            </a:r>
            <a:endParaRPr b="1" i="0" sz="3600" u="none" cap="none" strike="noStrike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61" name="Google Shape;161;g3a5859012eb_0_33"/>
          <p:cNvSpPr txBox="1"/>
          <p:nvPr/>
        </p:nvSpPr>
        <p:spPr>
          <a:xfrm>
            <a:off x="172050" y="1365325"/>
            <a:ext cx="11294100" cy="54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CO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proyecto incluye: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s-CO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Creación de cinco módulos principales:</a:t>
            </a:r>
            <a:br>
              <a:rPr b="0" i="0" lang="es-CO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○"/>
            </a:pPr>
            <a:r>
              <a:rPr b="0" i="0" lang="es-CO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Gestion de usuarios</a:t>
            </a:r>
            <a:br>
              <a:rPr b="0" i="0" lang="es-CO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○"/>
            </a:pPr>
            <a:r>
              <a:rPr b="0" i="0" lang="es-CO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Gestion de inventario</a:t>
            </a:r>
            <a:br>
              <a:rPr b="0" i="0" lang="es-CO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○"/>
            </a:pPr>
            <a:r>
              <a:rPr b="0" i="0" lang="es-CO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Gestion de Ventas</a:t>
            </a:r>
            <a:br>
              <a:rPr b="0" i="0" lang="es-CO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○"/>
            </a:pPr>
            <a:r>
              <a:rPr b="0" i="0" lang="es-CO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Gestion de Pedidos</a:t>
            </a:r>
            <a:br>
              <a:rPr b="0" i="0" lang="es-CO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○"/>
            </a:pPr>
            <a:r>
              <a:rPr b="0" i="0" lang="es-CO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Gestion de dotacion personalizada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s-CO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Formatos digitales para el ingreso y actualización de datos en cada módulo.</a:t>
            </a:r>
            <a:br>
              <a:rPr b="0" i="0" lang="es-CO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s-CO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Flujo de trabajo integrado, desde la cotización del cliente hasta la entrega final de la dotación.</a:t>
            </a:r>
            <a:br>
              <a:rPr b="0" i="0" lang="es-CO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s-CO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Generación de reportes para apoyar la toma de decisiones administrativas y operativas.</a:t>
            </a:r>
            <a:br>
              <a:rPr b="0" i="0" lang="es-CO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s-CO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Sistema centralizado, amigable con un acceso organizado a los modulos dependiendo roles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g3a5859012eb_0_33" title="download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95650" y="1840888"/>
            <a:ext cx="3028950" cy="1514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usiness people planning vector illustration, cartoon flat employee character team working together on business plan isolated on white (proporcionada por Getty Images)" id="163" name="Google Shape;163;g3a5859012eb_0_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72623" y="3660400"/>
            <a:ext cx="2922476" cy="1923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5859012eb_0_9"/>
          <p:cNvSpPr txBox="1"/>
          <p:nvPr/>
        </p:nvSpPr>
        <p:spPr>
          <a:xfrm>
            <a:off x="456236" y="416690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MÓDULOS DEL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9" name="Google Shape;169;g3a5859012eb_0_9"/>
          <p:cNvGraphicFramePr/>
          <p:nvPr/>
        </p:nvGraphicFramePr>
        <p:xfrm>
          <a:off x="392775" y="1509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{B5791F2A-53CE-4D49-901C-B13ED72E8839}</a:tableStyleId>
              </a:tblPr>
              <a:tblGrid>
                <a:gridCol w="2459575"/>
                <a:gridCol w="9161925"/>
              </a:tblGrid>
              <a:tr h="53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O" sz="1100" u="none" cap="none" strike="noStrike"/>
                        <a:t>MÓDULO</a:t>
                      </a:r>
                      <a:endParaRPr b="1" sz="11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O" sz="1100" u="none" cap="none" strike="noStrike"/>
                        <a:t>DESCRIPCIÓN GENERAL</a:t>
                      </a:r>
                      <a:endParaRPr b="1" sz="11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1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O" sz="1100" u="none" cap="none" strike="noStrike"/>
                        <a:t>GESTIÓN DE USUARIOS</a:t>
                      </a:r>
                      <a:endParaRPr b="1" sz="11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O" sz="1400" u="none" cap="none" strike="noStrike"/>
                        <a:t>Registro y gestión de usuarios dentro del sistema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1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O" sz="1100" u="none" cap="none" strike="noStrike"/>
                        <a:t>GESTIÓN DE INVENTARIO</a:t>
                      </a:r>
                      <a:endParaRPr b="1" sz="11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O" sz="1400" u="none" cap="none" strike="noStrike"/>
                        <a:t>Control de entradas y salidas de telas, insumos, tallas y productos terminados. Permite evitar faltantes, pérdidas y con alertas de  stock mínimo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1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O" sz="1100" u="none" cap="none" strike="noStrike"/>
                        <a:t>GESTIÓN DE VENTAS</a:t>
                      </a:r>
                      <a:endParaRPr b="1" sz="11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O" sz="1400" u="none" cap="none" strike="noStrike"/>
                        <a:t>Registro y gestion de ventas Y tickets o recibos de cada venta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1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O" sz="1100" u="none" cap="none" strike="noStrike"/>
                        <a:t>GESTIÓN DE PEDIDOS</a:t>
                      </a:r>
                      <a:endParaRPr b="1" sz="11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O" sz="1400" u="none" cap="none" strike="noStrike"/>
                        <a:t>Gestión de pedidos, seguimiento, crear, eliminar, modificar, inhabilitar,habiltar, fecha de entrega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1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O" sz="1100" u="none" cap="none" strike="noStrike"/>
                        <a:t>GESTION DE DOTACIÓN PERSONALIZADA</a:t>
                      </a:r>
                      <a:endParaRPr b="1" sz="11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O" sz="1400" u="none" cap="none" strike="noStrike"/>
                        <a:t>Diseñar dotaciones personalizadas(Logos) 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9620b154da_1_0"/>
          <p:cNvSpPr txBox="1"/>
          <p:nvPr/>
        </p:nvSpPr>
        <p:spPr>
          <a:xfrm>
            <a:off x="456236" y="416690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lang="es-CO" sz="36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REQUERMIENTOS FUNCIONALES CLIENTE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9620b154da_1_0"/>
          <p:cNvSpPr txBox="1"/>
          <p:nvPr/>
        </p:nvSpPr>
        <p:spPr>
          <a:xfrm>
            <a:off x="280875" y="1470175"/>
            <a:ext cx="3388800" cy="49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 sz="1200">
                <a:solidFill>
                  <a:schemeClr val="dk1"/>
                </a:solidFill>
              </a:rPr>
              <a:t>RF1. Registro de usuario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 sz="1200">
                <a:solidFill>
                  <a:schemeClr val="dk1"/>
                </a:solidFill>
              </a:rPr>
              <a:t>RF2. Inicio de sesión</a:t>
            </a:r>
            <a:r>
              <a:rPr lang="es-CO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 sz="1200">
                <a:solidFill>
                  <a:schemeClr val="dk1"/>
                </a:solidFill>
              </a:rPr>
              <a:t>RF3. Cierre de sesión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 sz="1200">
                <a:solidFill>
                  <a:schemeClr val="dk1"/>
                </a:solidFill>
              </a:rPr>
              <a:t>RF4. Recuperación de contraseña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 sz="1200">
                <a:solidFill>
                  <a:schemeClr val="dk1"/>
                </a:solidFill>
              </a:rPr>
              <a:t>RF5. Registro de materiales</a:t>
            </a:r>
            <a:r>
              <a:rPr lang="es-CO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 sz="1200">
                <a:solidFill>
                  <a:schemeClr val="dk1"/>
                </a:solidFill>
              </a:rPr>
              <a:t>RF6. Consulta de materiales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 sz="1200">
                <a:solidFill>
                  <a:schemeClr val="dk1"/>
                </a:solidFill>
              </a:rPr>
              <a:t>RF7. Actualización de materiales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 sz="1200">
                <a:solidFill>
                  <a:schemeClr val="dk1"/>
                </a:solidFill>
              </a:rPr>
              <a:t>RF8. Eliminación de materiales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 sz="1200">
                <a:solidFill>
                  <a:schemeClr val="dk1"/>
                </a:solidFill>
              </a:rPr>
              <a:t>RF9. Registro de categorías de materiales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 sz="1200">
                <a:solidFill>
                  <a:schemeClr val="dk1"/>
                </a:solidFill>
              </a:rPr>
              <a:t>RF10. Gestión de proveedores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 sz="1200">
                <a:solidFill>
                  <a:schemeClr val="dk1"/>
                </a:solidFill>
              </a:rPr>
              <a:t>RF11. Registro de entrada de inventario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 sz="1200">
                <a:solidFill>
                  <a:schemeClr val="dk1"/>
                </a:solidFill>
              </a:rPr>
              <a:t>RF12. Registro de salida de inventario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 sz="1200">
                <a:solidFill>
                  <a:schemeClr val="dk1"/>
                </a:solidFill>
              </a:rPr>
              <a:t>RF13. Actualización automática del inventario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 sz="1200">
                <a:solidFill>
                  <a:schemeClr val="dk1"/>
                </a:solidFill>
              </a:rPr>
              <a:t>RF14. Consulta del estado del inventario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9620b154da_1_0"/>
          <p:cNvSpPr txBox="1"/>
          <p:nvPr/>
        </p:nvSpPr>
        <p:spPr>
          <a:xfrm>
            <a:off x="3669675" y="1470175"/>
            <a:ext cx="3388800" cy="48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O" sz="1200">
                <a:solidFill>
                  <a:schemeClr val="dk1"/>
                </a:solidFill>
              </a:rPr>
              <a:t>RF15. Control de inventario mínimo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 sz="1200">
                <a:solidFill>
                  <a:schemeClr val="dk1"/>
                </a:solidFill>
              </a:rPr>
              <a:t>RF16. Generación de alertas de inventario bajo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 sz="1200">
                <a:solidFill>
                  <a:schemeClr val="dk1"/>
                </a:solidFill>
              </a:rPr>
              <a:t>RF17. Historial de movimientos de inventario</a:t>
            </a:r>
            <a:r>
              <a:rPr lang="es-CO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 sz="1200">
                <a:solidFill>
                  <a:schemeClr val="dk1"/>
                </a:solidFill>
              </a:rPr>
              <a:t>RF18. Generación de reportes de inventario</a:t>
            </a:r>
            <a:r>
              <a:rPr lang="es-CO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 sz="1200">
                <a:solidFill>
                  <a:schemeClr val="dk1"/>
                </a:solidFill>
              </a:rPr>
              <a:t>RF19. Búsqueda de materiales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 sz="1200">
                <a:solidFill>
                  <a:schemeClr val="dk1"/>
                </a:solidFill>
              </a:rPr>
              <a:t>RF20. Control de acceso por usuario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 sz="1200">
                <a:solidFill>
                  <a:schemeClr val="dk1"/>
                </a:solidFill>
              </a:rPr>
              <a:t>RF21. Generación de recibos/tickets de pago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620b154da_1_7"/>
          <p:cNvSpPr txBox="1"/>
          <p:nvPr/>
        </p:nvSpPr>
        <p:spPr>
          <a:xfrm>
            <a:off x="456224" y="416700"/>
            <a:ext cx="105225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lang="es-CO" sz="36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REQUERMIENTOS NO FUNCIONALES CLIENTE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9620b154da_1_7"/>
          <p:cNvSpPr txBox="1"/>
          <p:nvPr/>
        </p:nvSpPr>
        <p:spPr>
          <a:xfrm>
            <a:off x="123700" y="1667400"/>
            <a:ext cx="4811100" cy="3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O">
                <a:solidFill>
                  <a:schemeClr val="dk1"/>
                </a:solidFill>
              </a:rPr>
              <a:t>RNF1. Seguridad de acceso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O">
                <a:solidFill>
                  <a:schemeClr val="dk1"/>
                </a:solidFill>
              </a:rPr>
              <a:t>RNF2. Protección de datos</a:t>
            </a:r>
            <a:r>
              <a:rPr lang="es-CO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O">
                <a:solidFill>
                  <a:schemeClr val="dk1"/>
                </a:solidFill>
              </a:rPr>
              <a:t>RNF3. Disponibilidad del sistema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O">
                <a:solidFill>
                  <a:schemeClr val="dk1"/>
                </a:solidFill>
              </a:rPr>
              <a:t>RNF4. Facilidad de uso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O">
                <a:solidFill>
                  <a:schemeClr val="dk1"/>
                </a:solidFill>
              </a:rPr>
              <a:t>RNF5. Tiempo de respuesta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O">
                <a:solidFill>
                  <a:schemeClr val="dk1"/>
                </a:solidFill>
              </a:rPr>
              <a:t>RNF6. Integridad de la información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O">
                <a:solidFill>
                  <a:schemeClr val="dk1"/>
                </a:solidFill>
              </a:rPr>
              <a:t>RNF7. Respaldo de la información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O">
                <a:solidFill>
                  <a:schemeClr val="dk1"/>
                </a:solidFill>
              </a:rPr>
              <a:t>RNF8. Escalabilidad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O">
                <a:solidFill>
                  <a:schemeClr val="dk1"/>
                </a:solidFill>
              </a:rPr>
              <a:t>RNF9. Compatibilidad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O">
                <a:solidFill>
                  <a:schemeClr val="dk1"/>
                </a:solidFill>
              </a:rPr>
              <a:t>RNF10. Mantenimiento del sistema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9620b154da_1_13"/>
          <p:cNvSpPr txBox="1"/>
          <p:nvPr/>
        </p:nvSpPr>
        <p:spPr>
          <a:xfrm>
            <a:off x="456224" y="416700"/>
            <a:ext cx="105225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lang="es-CO" sz="36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REQUERMIENTOS FUNCIONALES USUARIO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39620b154da_1_13"/>
          <p:cNvSpPr txBox="1"/>
          <p:nvPr/>
        </p:nvSpPr>
        <p:spPr>
          <a:xfrm>
            <a:off x="123700" y="1667400"/>
            <a:ext cx="3895500" cy="40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O">
                <a:solidFill>
                  <a:schemeClr val="dk1"/>
                </a:solidFill>
              </a:rPr>
              <a:t>RU-F1. Registro de usuario</a:t>
            </a:r>
            <a:r>
              <a:rPr lang="es-CO">
                <a:solidFill>
                  <a:schemeClr val="dk1"/>
                </a:solidFill>
              </a:rPr>
              <a:t>	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O">
                <a:solidFill>
                  <a:schemeClr val="dk1"/>
                </a:solidFill>
              </a:rPr>
              <a:t>RU-F2. Inicio de sesión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O">
                <a:solidFill>
                  <a:schemeClr val="dk1"/>
                </a:solidFill>
              </a:rPr>
              <a:t>RU-F3. Recuperación de contraseña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CO">
                <a:solidFill>
                  <a:schemeClr val="dk1"/>
                </a:solidFill>
              </a:rPr>
              <a:t>RU-F4. Gestión de roles de usuario</a:t>
            </a:r>
            <a:r>
              <a:rPr lang="es-CO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O">
                <a:solidFill>
                  <a:schemeClr val="dk1"/>
                </a:solidFill>
              </a:rPr>
              <a:t>RU-F5. Consulta del inventario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O">
                <a:solidFill>
                  <a:schemeClr val="dk1"/>
                </a:solidFill>
              </a:rPr>
              <a:t>RU-F6. Registro de materiales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O">
                <a:solidFill>
                  <a:schemeClr val="dk1"/>
                </a:solidFill>
              </a:rPr>
              <a:t>RU-F7. Actualización de materiales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O">
                <a:solidFill>
                  <a:schemeClr val="dk1"/>
                </a:solidFill>
              </a:rPr>
              <a:t>RU-F8. Eliminación de materiales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O">
                <a:solidFill>
                  <a:schemeClr val="dk1"/>
                </a:solidFill>
              </a:rPr>
              <a:t>RU-F9. Registro de entradas de inventario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O">
                <a:solidFill>
                  <a:schemeClr val="dk1"/>
                </a:solidFill>
              </a:rPr>
              <a:t>RU-F10. Registro de salidas de inventario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CO" sz="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9620b154da_1_13"/>
          <p:cNvSpPr txBox="1"/>
          <p:nvPr/>
        </p:nvSpPr>
        <p:spPr>
          <a:xfrm>
            <a:off x="4744075" y="1667400"/>
            <a:ext cx="4958700" cy="38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>
                <a:solidFill>
                  <a:schemeClr val="dk1"/>
                </a:solidFill>
              </a:rPr>
              <a:t>RU-F11. Gestión de proveedores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>
                <a:solidFill>
                  <a:schemeClr val="dk1"/>
                </a:solidFill>
              </a:rPr>
              <a:t>RU-F12. Consulta del estado del inventario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>
                <a:solidFill>
                  <a:schemeClr val="dk1"/>
                </a:solidFill>
              </a:rPr>
              <a:t>RU-F13. Búsqueda de materiales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>
                <a:solidFill>
                  <a:schemeClr val="dk1"/>
                </a:solidFill>
              </a:rPr>
              <a:t>RU-F14. Visualización de alertas de inventario bajo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>
                <a:solidFill>
                  <a:schemeClr val="dk1"/>
                </a:solidFill>
              </a:rPr>
              <a:t>RU-F15. Generación de reportes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>
                <a:solidFill>
                  <a:schemeClr val="dk1"/>
                </a:solidFill>
              </a:rPr>
              <a:t>RU-F16. Consulta del historial de movimientos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>
                <a:solidFill>
                  <a:schemeClr val="dk1"/>
                </a:solidFill>
              </a:rPr>
              <a:t>RU-F17. Consulta de proveedores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>
                <a:solidFill>
                  <a:schemeClr val="dk1"/>
                </a:solidFill>
              </a:rPr>
              <a:t>RU-F18. Registro del uso de materiales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>
                <a:solidFill>
                  <a:schemeClr val="dk1"/>
                </a:solidFill>
              </a:rPr>
              <a:t>RU-F19. Actualización de información del inventario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>
                <a:solidFill>
                  <a:schemeClr val="dk1"/>
                </a:solidFill>
              </a:rPr>
              <a:t>RU-F20. Cierre de sesión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9620b154da_1_19"/>
          <p:cNvSpPr txBox="1"/>
          <p:nvPr/>
        </p:nvSpPr>
        <p:spPr>
          <a:xfrm>
            <a:off x="456224" y="416700"/>
            <a:ext cx="105225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lang="es-CO" sz="36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REQUERMIENTOS NO FUNCIONALES USUARIO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39620b154da_1_19"/>
          <p:cNvSpPr txBox="1"/>
          <p:nvPr/>
        </p:nvSpPr>
        <p:spPr>
          <a:xfrm>
            <a:off x="645650" y="1652900"/>
            <a:ext cx="8578500" cy="40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O">
                <a:solidFill>
                  <a:schemeClr val="dk1"/>
                </a:solidFill>
              </a:rPr>
              <a:t>RU-NF1. Facilidad de uso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O">
                <a:solidFill>
                  <a:schemeClr val="dk1"/>
                </a:solidFill>
              </a:rPr>
              <a:t>RU-NF2. Seguridad de acceso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O">
                <a:solidFill>
                  <a:schemeClr val="dk1"/>
                </a:solidFill>
              </a:rPr>
              <a:t>RU-NF3. Control de roles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O">
                <a:solidFill>
                  <a:schemeClr val="dk1"/>
                </a:solidFill>
              </a:rPr>
              <a:t>RU-NF4. Tiempo de respuesta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O">
                <a:solidFill>
                  <a:schemeClr val="dk1"/>
                </a:solidFill>
              </a:rPr>
              <a:t>RU-NF5. Disponibilidad del sistema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O">
                <a:solidFill>
                  <a:schemeClr val="dk1"/>
                </a:solidFill>
              </a:rPr>
              <a:t>RU-NF6. Confidencialidad de la información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O">
                <a:solidFill>
                  <a:schemeClr val="dk1"/>
                </a:solidFill>
              </a:rPr>
              <a:t>RU-NF7. Compatibilidad con navegadores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O">
                <a:solidFill>
                  <a:schemeClr val="dk1"/>
                </a:solidFill>
              </a:rPr>
              <a:t>RU-NF8. Recuperación de acceso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O">
                <a:solidFill>
                  <a:schemeClr val="dk1"/>
                </a:solidFill>
              </a:rPr>
              <a:t>RU-NF9. Claridad en la visualización de datos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O">
                <a:solidFill>
                  <a:schemeClr val="dk1"/>
                </a:solidFill>
              </a:rPr>
              <a:t>RU-NF10. Estabilidad del sistema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CO" sz="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9620b154da_1_25"/>
          <p:cNvSpPr txBox="1"/>
          <p:nvPr/>
        </p:nvSpPr>
        <p:spPr>
          <a:xfrm>
            <a:off x="456224" y="416700"/>
            <a:ext cx="105225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lang="es-CO" sz="36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REQUERMIENTOS FUNCIONALES EMPRESA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g39620b154da_1_25"/>
          <p:cNvSpPr txBox="1"/>
          <p:nvPr/>
        </p:nvSpPr>
        <p:spPr>
          <a:xfrm>
            <a:off x="456225" y="1754400"/>
            <a:ext cx="4548000" cy="30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O">
                <a:solidFill>
                  <a:schemeClr val="dk1"/>
                </a:solidFill>
              </a:rPr>
              <a:t>RE-F1. Control del inventario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O">
                <a:solidFill>
                  <a:schemeClr val="dk1"/>
                </a:solidFill>
              </a:rPr>
              <a:t>RE-F2. Registro de materiales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O">
                <a:solidFill>
                  <a:schemeClr val="dk1"/>
                </a:solidFill>
              </a:rPr>
              <a:t>RE-F3. Control de entradas de inventario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O">
                <a:solidFill>
                  <a:schemeClr val="dk1"/>
                </a:solidFill>
              </a:rPr>
              <a:t>RE-F4. Control de salidas de inventario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O">
                <a:solidFill>
                  <a:schemeClr val="dk1"/>
                </a:solidFill>
              </a:rPr>
              <a:t>RE-F5. Consulta del inventario en tiempo real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O">
                <a:solidFill>
                  <a:schemeClr val="dk1"/>
                </a:solidFill>
              </a:rPr>
              <a:t>RE-F6. Gestión de proveedores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O">
                <a:solidFill>
                  <a:schemeClr val="dk1"/>
                </a:solidFill>
              </a:rPr>
              <a:t>RE-F7. Control de niveles mínimos de inventario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CO" sz="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39620b154da_1_25"/>
          <p:cNvSpPr txBox="1"/>
          <p:nvPr/>
        </p:nvSpPr>
        <p:spPr>
          <a:xfrm>
            <a:off x="5878500" y="1586400"/>
            <a:ext cx="4813800" cy="31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>
                <a:solidFill>
                  <a:schemeClr val="dk1"/>
                </a:solidFill>
              </a:rPr>
              <a:t>RE-F8. Generación de alertas de inventario bajo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>
                <a:solidFill>
                  <a:schemeClr val="dk1"/>
                </a:solidFill>
              </a:rPr>
              <a:t>RE-F9. Gestión de usuarios y roles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>
                <a:solidFill>
                  <a:schemeClr val="dk1"/>
                </a:solidFill>
              </a:rPr>
              <a:t>RE-F10. Generación de reportes de inventario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>
                <a:solidFill>
                  <a:schemeClr val="dk1"/>
                </a:solidFill>
              </a:rPr>
              <a:t>RE-F11. Historial de movimientos de inventario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>
                <a:solidFill>
                  <a:schemeClr val="dk1"/>
                </a:solidFill>
              </a:rPr>
              <a:t>RE-F12. Optimización del control de materiales</a:t>
            </a:r>
            <a:r>
              <a:rPr lang="es-CO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>
                <a:solidFill>
                  <a:schemeClr val="dk1"/>
                </a:solidFill>
              </a:rPr>
              <a:t>RE-F13. Reducción de pérdidas de materiales</a:t>
            </a:r>
            <a:r>
              <a:rPr lang="es-CO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>
                <a:solidFill>
                  <a:schemeClr val="dk1"/>
                </a:solidFill>
              </a:rPr>
              <a:t>RE-F14. Control de acceso al sistema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>
                <a:solidFill>
                  <a:schemeClr val="dk1"/>
                </a:solidFill>
              </a:rPr>
              <a:t>RE-F15. Apoyo a la toma de decisiones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9620b154da_1_31"/>
          <p:cNvSpPr txBox="1"/>
          <p:nvPr/>
        </p:nvSpPr>
        <p:spPr>
          <a:xfrm>
            <a:off x="456225" y="416700"/>
            <a:ext cx="110733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lang="es-CO" sz="36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REQUERMIENTOS NO FUNCIONALES EMPRESA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39620b154da_1_31"/>
          <p:cNvSpPr txBox="1"/>
          <p:nvPr/>
        </p:nvSpPr>
        <p:spPr>
          <a:xfrm>
            <a:off x="456225" y="1754400"/>
            <a:ext cx="4664700" cy="39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O">
                <a:solidFill>
                  <a:schemeClr val="dk1"/>
                </a:solidFill>
              </a:rPr>
              <a:t>RE-NF1. Seguridad de la información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O">
                <a:solidFill>
                  <a:schemeClr val="dk1"/>
                </a:solidFill>
              </a:rPr>
              <a:t>RE-NF2. Disponibilidad del sistema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O">
                <a:solidFill>
                  <a:schemeClr val="dk1"/>
                </a:solidFill>
              </a:rPr>
              <a:t>RE-NF3. Respaldo de la información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O">
                <a:solidFill>
                  <a:schemeClr val="dk1"/>
                </a:solidFill>
              </a:rPr>
              <a:t>RE-NF4. Integridad de los datos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O">
                <a:solidFill>
                  <a:schemeClr val="dk1"/>
                </a:solidFill>
              </a:rPr>
              <a:t>RE-NF5. Tiempo de respuesta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O">
                <a:solidFill>
                  <a:schemeClr val="dk1"/>
                </a:solidFill>
              </a:rPr>
              <a:t>RE-NF6. Usabilidad del sistema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O">
                <a:solidFill>
                  <a:schemeClr val="dk1"/>
                </a:solidFill>
              </a:rPr>
              <a:t>RE-NF7. Escalabilidad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O">
                <a:solidFill>
                  <a:schemeClr val="dk1"/>
                </a:solidFill>
              </a:rPr>
              <a:t>RE-NF8. Compatibilidad tecnológica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O">
                <a:solidFill>
                  <a:schemeClr val="dk1"/>
                </a:solidFill>
              </a:rPr>
              <a:t>RE-NF9. Mantenimiento del sistema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O">
                <a:solidFill>
                  <a:schemeClr val="dk1"/>
                </a:solidFill>
              </a:rPr>
              <a:t>RE-NF10. Confiabilidad del sistema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CO" sz="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1"/>
          <p:cNvSpPr txBox="1"/>
          <p:nvPr/>
        </p:nvSpPr>
        <p:spPr>
          <a:xfrm>
            <a:off x="205224" y="353938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MOCKUPS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" name="Google Shape;21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5224" y="1395413"/>
            <a:ext cx="4519727" cy="23876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59415" y="1395413"/>
            <a:ext cx="4922497" cy="23876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59415" y="3913659"/>
            <a:ext cx="4922497" cy="2868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5224" y="3913659"/>
            <a:ext cx="4519727" cy="28689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a5859012eb_1_28"/>
          <p:cNvSpPr txBox="1"/>
          <p:nvPr/>
        </p:nvSpPr>
        <p:spPr>
          <a:xfrm>
            <a:off x="456236" y="416690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FLUJO GENERAL DEL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luence of external factors on object RGB color icon (proporcionado por Getty Images)" id="223" name="Google Shape;223;g3a5859012eb_1_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01650" y="1387895"/>
            <a:ext cx="1844398" cy="18443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artoon chicken wearing glasses is pointing at a graph on a white board (proporcionado por Tenor)" id="224" name="Google Shape;224;g3a5859012eb_1_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60125" y="3232303"/>
            <a:ext cx="2257950" cy="1786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scussion   messages   bubble (proporcionado por Getty Images)" id="225" name="Google Shape;225;g3a5859012eb_1_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72700" y="5182050"/>
            <a:ext cx="1487427" cy="1487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g3a5859012eb_1_28" title="flujo general - visual selection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1249500"/>
            <a:ext cx="7799649" cy="5608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a5859012eb_1_38"/>
          <p:cNvSpPr txBox="1"/>
          <p:nvPr/>
        </p:nvSpPr>
        <p:spPr>
          <a:xfrm>
            <a:off x="456236" y="416690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BENEFICIOS ESPERADOS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3a5859012eb_1_38"/>
          <p:cNvSpPr txBox="1"/>
          <p:nvPr/>
        </p:nvSpPr>
        <p:spPr>
          <a:xfrm>
            <a:off x="515400" y="2324575"/>
            <a:ext cx="6730500" cy="3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 Light"/>
              <a:buAutoNum type="arabicPeriod"/>
            </a:pPr>
            <a:r>
              <a:rPr b="0" i="0" lang="es-CO" sz="1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Eliminación total de registros manuales.</a:t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228600" lvl="0" marL="457200" marR="0" rtl="0" algn="just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 Light"/>
              <a:buAutoNum type="arabicPeriod"/>
            </a:pPr>
            <a:r>
              <a:rPr b="0" i="0" lang="es-CO" sz="1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Mayor rapidez en el acceso a información.</a:t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228600" lvl="0" marL="457200" marR="0" rtl="0" algn="just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 Light"/>
              <a:buAutoNum type="arabicPeriod"/>
            </a:pPr>
            <a:r>
              <a:rPr b="0" i="0" lang="es-CO" sz="1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Reducción de errores en los pedidos.</a:t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 Light"/>
              <a:buAutoNum type="arabicPeriod"/>
            </a:pPr>
            <a:r>
              <a:rPr b="0" i="0" lang="es-CO" sz="1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Registro de dotación y producción.</a:t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228600" lvl="0" marL="457200" marR="0" rtl="0" algn="just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 Light"/>
              <a:buAutoNum type="arabicPeriod"/>
            </a:pPr>
            <a:r>
              <a:rPr b="0" i="0" lang="es-CO" sz="1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Optimización del tiempo y mejor servicio al cliente.</a:t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tickmen lifting bar for graph (proporcionado por Getty Images)" id="233" name="Google Shape;233;g3a5859012eb_1_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46350" y="1496974"/>
            <a:ext cx="2206177" cy="15124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eople with rope raise falling chart. Increase in profit and income. Businesspeople working together. Crisis management. Teamwork (proporcionado por Getty Images)" id="234" name="Google Shape;234;g3a5859012eb_1_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96800" y="3165050"/>
            <a:ext cx="2636001" cy="1755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usiness couple and hand (proporcionado por Getty Images)" id="235" name="Google Shape;235;g3a5859012eb_1_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94425" y="5112509"/>
            <a:ext cx="2110024" cy="16072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96205850ef_0_0"/>
          <p:cNvSpPr txBox="1"/>
          <p:nvPr/>
        </p:nvSpPr>
        <p:spPr>
          <a:xfrm>
            <a:off x="456236" y="416690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CASOS DE USO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1" name="Google Shape;241;g396205850ef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67300" y="1267200"/>
            <a:ext cx="9714273" cy="548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2020-10-01T23:51:28Z</dcterms:created>
  <dc:creator>Jorge Enrique Pedraza Sanchez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