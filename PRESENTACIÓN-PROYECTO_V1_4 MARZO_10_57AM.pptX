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Work Sans Medium"/>
      <p:regular r:id="rId22"/>
      <p:bold r:id="rId23"/>
      <p:italic r:id="rId24"/>
      <p:boldItalic r:id="rId25"/>
    </p:embeddedFont>
    <p:embeddedFont>
      <p:font typeface="Work Sans ExtraBold"/>
      <p:bold r:id="rId26"/>
      <p:boldItalic r:id="rId27"/>
    </p:embeddedFont>
    <p:embeddedFont>
      <p:font typeface="Work Sans"/>
      <p:regular r:id="rId28"/>
      <p:bold r:id="rId29"/>
      <p:italic r:id="rId30"/>
      <p:boldItalic r:id="rId31"/>
    </p:embeddedFont>
    <p:embeddedFont>
      <p:font typeface="Work Sans Light"/>
      <p:regular r:id="rId32"/>
      <p:bold r:id="rId33"/>
      <p:italic r:id="rId34"/>
      <p:boldItalic r:id="rId35"/>
    </p:embeddedFont>
    <p:embeddedFont>
      <p:font typeface="Work Sans SemiBold"/>
      <p:regular r:id="rId36"/>
      <p:bold r:id="rId37"/>
      <p:italic r:id="rId38"/>
      <p:boldItalic r:id="rId39"/>
    </p:embeddedFont>
    <p:embeddedFont>
      <p:font typeface="Comfortaa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io2oFKngH0YdR6tanpMV9Ngb0x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C61772-26EE-463E-B5DE-A64AF1A06435}">
  <a:tblStyle styleId="{41C61772-26EE-463E-B5DE-A64AF1A0643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050D155-1127-4C4B-B724-269314F6EE7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mfortaa-regular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Comfortaa-bold.fntdata"/><Relationship Id="rId22" Type="http://schemas.openxmlformats.org/officeDocument/2006/relationships/font" Target="fonts/WorkSansMedium-regular.fntdata"/><Relationship Id="rId21" Type="http://schemas.openxmlformats.org/officeDocument/2006/relationships/slide" Target="slides/slide15.xml"/><Relationship Id="rId24" Type="http://schemas.openxmlformats.org/officeDocument/2006/relationships/font" Target="fonts/WorkSansMedium-italic.fntdata"/><Relationship Id="rId23" Type="http://schemas.openxmlformats.org/officeDocument/2006/relationships/font" Target="fonts/Work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WorkSansExtraBold-bold.fntdata"/><Relationship Id="rId25" Type="http://schemas.openxmlformats.org/officeDocument/2006/relationships/font" Target="fonts/WorkSansMedium-boldItalic.fntdata"/><Relationship Id="rId28" Type="http://schemas.openxmlformats.org/officeDocument/2006/relationships/font" Target="fonts/WorkSans-regular.fntdata"/><Relationship Id="rId27" Type="http://schemas.openxmlformats.org/officeDocument/2006/relationships/font" Target="fonts/WorkSans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-boldItalic.fntdata"/><Relationship Id="rId30" Type="http://schemas.openxmlformats.org/officeDocument/2006/relationships/font" Target="fonts/Work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Light-bold.fntdata"/><Relationship Id="rId10" Type="http://schemas.openxmlformats.org/officeDocument/2006/relationships/slide" Target="slides/slide4.xml"/><Relationship Id="rId32" Type="http://schemas.openxmlformats.org/officeDocument/2006/relationships/font" Target="fonts/WorkSansLight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Light-italic.fntdata"/><Relationship Id="rId15" Type="http://schemas.openxmlformats.org/officeDocument/2006/relationships/slide" Target="slides/slide9.xml"/><Relationship Id="rId37" Type="http://schemas.openxmlformats.org/officeDocument/2006/relationships/font" Target="fonts/WorkSansSemiBold-bold.fntdata"/><Relationship Id="rId14" Type="http://schemas.openxmlformats.org/officeDocument/2006/relationships/slide" Target="slides/slide8.xml"/><Relationship Id="rId36" Type="http://schemas.openxmlformats.org/officeDocument/2006/relationships/font" Target="fonts/WorkSans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WorkSans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WorkSans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5859012eb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a5859012eb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5859012e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a5859012e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5859012eb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a5859012eb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5859012eb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a5859012eb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5859012eb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a5859012eb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5859012eb_1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a5859012eb_1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5859012eb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a5859012eb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5859012eb_1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a5859012eb_1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gif"/><Relationship Id="rId5" Type="http://schemas.openxmlformats.org/officeDocument/2006/relationships/image" Target="../media/image7.jp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4.jpg"/><Relationship Id="rId5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9.jpg"/><Relationship Id="rId5" Type="http://schemas.openxmlformats.org/officeDocument/2006/relationships/image" Target="../media/image23.gif"/><Relationship Id="rId6" Type="http://schemas.openxmlformats.org/officeDocument/2006/relationships/image" Target="../media/image25.jpg"/><Relationship Id="rId7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6.jpg"/><Relationship Id="rId5" Type="http://schemas.openxmlformats.org/officeDocument/2006/relationships/image" Target="../media/image18.jpg"/><Relationship Id="rId6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1284625" y="2225150"/>
            <a:ext cx="9480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s-CO" sz="32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PRESENTACION PROYECTO SENA</a:t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2600" u="none" cap="none" strike="noStrike">
                <a:solidFill>
                  <a:srgbClr val="6AA84F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Sistematización del Proceso de Ventas, Inventario y Producción en la Empresa: </a:t>
            </a:r>
            <a:r>
              <a:rPr b="0" i="0" lang="es-CO" sz="2400" u="none" cap="none" strike="noStrike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DOTACIONES FORTUNA IJ</a:t>
            </a:r>
            <a:endParaRPr b="0" i="0" sz="34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105900" y="4915707"/>
            <a:ext cx="1945270" cy="8290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105900" y="4915707"/>
            <a:ext cx="19452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Marca externa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9105900" y="5190743"/>
            <a:ext cx="194527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NOTA: </a:t>
            </a:r>
            <a:r>
              <a:rPr b="0" i="0" lang="es-CO" sz="1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 tamaño del logo de la marca externa no debe superar el tamaño del logo SENA.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5100" y="4915700"/>
            <a:ext cx="2524401" cy="97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1744050" y="1025850"/>
            <a:ext cx="91833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600" u="none" cap="none" strike="noStrike">
                <a:solidFill>
                  <a:srgbClr val="6AA84F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404 - BYTESBUILDERS</a:t>
            </a:r>
            <a:endParaRPr b="0" i="0" sz="3600" u="none" cap="none" strike="noStrike">
              <a:solidFill>
                <a:srgbClr val="6AA84F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rgbClr val="6FA8D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60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4972228" y="3324314"/>
            <a:ext cx="2247544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2"/>
          <p:cNvSpPr txBox="1"/>
          <p:nvPr/>
        </p:nvSpPr>
        <p:spPr>
          <a:xfrm>
            <a:off x="3207449" y="2641950"/>
            <a:ext cx="6256500" cy="3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INTEGRANTES:</a:t>
            </a:r>
            <a:endParaRPr b="0" i="0" sz="3200" u="none" cap="none" strike="noStrike">
              <a:solidFill>
                <a:schemeClr val="dk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6AA84F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 DILAN RODRIGUEZ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 FELIPE LASPRILLA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CO" sz="3200" u="none" cap="none" strike="noStrike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 ANTONY CARDENAS</a:t>
            </a:r>
            <a:endParaRPr b="0" i="0" sz="3200" u="none" cap="none" strike="noStrike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CO" sz="3200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°BRAYAN CORPA</a:t>
            </a:r>
            <a:endParaRPr sz="3200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CO" sz="3200">
                <a:solidFill>
                  <a:srgbClr val="6AA84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  °SAMUEL PEÑA</a:t>
            </a:r>
            <a:endParaRPr sz="3200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solidFill>
                <a:srgbClr val="6AA84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ork Sans Light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456236" y="416690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TABLA DE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" name="Google Shape;110;p6"/>
          <p:cNvGraphicFramePr/>
          <p:nvPr/>
        </p:nvGraphicFramePr>
        <p:xfrm>
          <a:off x="1720338" y="187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{41C61772-26EE-463E-B5DE-A64AF1A06435}</a:tableStyleId>
              </a:tblPr>
              <a:tblGrid>
                <a:gridCol w="778500"/>
                <a:gridCol w="7972825"/>
              </a:tblGrid>
              <a:tr h="381000"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Work Sans Medium"/>
                        <a:buAutoNum type="arabicPeriod"/>
                      </a:pPr>
                      <a:r>
                        <a:t/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Nombre del Proyecto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2. 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Planteamiento del Problema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3.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Justificación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4. 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Pregunta del Proyecto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5. 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Objetivo General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6. 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Objetivo Específico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7.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Alcance del proyecto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8.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Módulos del Sistema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 9.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Distribución de Funciones del Equipo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Medium"/>
                          <a:ea typeface="Work Sans Medium"/>
                          <a:cs typeface="Work Sans Medium"/>
                          <a:sym typeface="Work Sans Medium"/>
                        </a:rPr>
                        <a:t> 10.</a:t>
                      </a:r>
                      <a:endParaRPr sz="1600" u="none" cap="none" strike="noStrike">
                        <a:latin typeface="Work Sans Medium"/>
                        <a:ea typeface="Work Sans Medium"/>
                        <a:cs typeface="Work Sans Medium"/>
                        <a:sym typeface="Work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cap="none" strike="noStrike">
                          <a:latin typeface="Work Sans Light"/>
                          <a:ea typeface="Work Sans Light"/>
                          <a:cs typeface="Work Sans Light"/>
                          <a:sym typeface="Work Sans Light"/>
                        </a:rPr>
                        <a:t>Flujo General del Sistema</a:t>
                      </a:r>
                      <a:endParaRPr sz="1600" u="none" cap="none" strike="noStrike">
                        <a:latin typeface="Work Sans Light"/>
                        <a:ea typeface="Work Sans Light"/>
                        <a:cs typeface="Work Sans Light"/>
                        <a:sym typeface="Work Sans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958200" y="1609975"/>
            <a:ext cx="10275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0" i="0" lang="es-CO" sz="80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PLANTEAMIENTO DEL PROYECTO</a:t>
            </a:r>
            <a:endParaRPr b="0" i="0" sz="80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4972230" y="4641533"/>
            <a:ext cx="22476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4"/>
          <p:cNvCxnSpPr/>
          <p:nvPr/>
        </p:nvCxnSpPr>
        <p:spPr>
          <a:xfrm>
            <a:off x="125968" y="1085770"/>
            <a:ext cx="1425900" cy="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8250" y="3709075"/>
            <a:ext cx="4543749" cy="314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8149700" y="1927350"/>
            <a:ext cx="41766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2700" u="none" cap="none" strike="noStrike">
                <a:solidFill>
                  <a:srgbClr val="38AA00"/>
                </a:solidFill>
                <a:latin typeface="Arial"/>
                <a:ea typeface="Arial"/>
                <a:cs typeface="Arial"/>
                <a:sym typeface="Arial"/>
              </a:rPr>
              <a:t>PLANTEAMIENTO DEL PROBLEMÁTICA</a:t>
            </a:r>
            <a:endParaRPr b="1" i="0" sz="27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4" title="JUSTIFICACION - visual selection (2).png"/>
          <p:cNvPicPr preferRelativeResize="0"/>
          <p:nvPr/>
        </p:nvPicPr>
        <p:blipFill rotWithShape="1">
          <a:blip r:embed="rId5">
            <a:alphaModFix/>
          </a:blip>
          <a:srcRect b="660" l="-380" r="380" t="-660"/>
          <a:stretch/>
        </p:blipFill>
        <p:spPr>
          <a:xfrm>
            <a:off x="15139" y="30278"/>
            <a:ext cx="796211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/>
        </p:nvSpPr>
        <p:spPr>
          <a:xfrm rot="2370658">
            <a:off x="8733014" y="1355696"/>
            <a:ext cx="3809967" cy="741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b="0" i="0" sz="1400" u="none" cap="none" strike="noStrike">
              <a:solidFill>
                <a:srgbClr val="38A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3975" y="3305425"/>
            <a:ext cx="3108024" cy="364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 title="PREGUNTA PROYECTO - visual selection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39" y="0"/>
            <a:ext cx="9083976" cy="6954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859012eb_0_1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PREGUNTA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og is sitting in the back seat of a car with a question mark on its face . (proporcionado por Tenor)" id="137" name="Google Shape;137;g3a5859012eb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325" y="4189850"/>
            <a:ext cx="1892425" cy="18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a5859012eb_0_13" title="images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6475" y="5445295"/>
            <a:ext cx="1892425" cy="11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a5859012eb_0_13"/>
          <p:cNvSpPr txBox="1"/>
          <p:nvPr/>
        </p:nvSpPr>
        <p:spPr>
          <a:xfrm>
            <a:off x="7024550" y="1345375"/>
            <a:ext cx="52563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CO" sz="23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¿Cómo puede un sistema informacion mejorar el control de pedidos, inventario y producción en la empresa de dotaciones y bordados, reemplazando los registros manuales actuales?</a:t>
            </a:r>
            <a:endParaRPr b="0" i="0" sz="23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40" name="Google Shape;140;g3a5859012eb_0_13" title="OBJETIVO GENERAL - visual selec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262600"/>
            <a:ext cx="7024548" cy="583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5859012eb_0_5"/>
          <p:cNvSpPr txBox="1"/>
          <p:nvPr/>
        </p:nvSpPr>
        <p:spPr>
          <a:xfrm>
            <a:off x="493961" y="416565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a5859012eb_0_5"/>
          <p:cNvSpPr txBox="1"/>
          <p:nvPr/>
        </p:nvSpPr>
        <p:spPr>
          <a:xfrm>
            <a:off x="205175" y="1655525"/>
            <a:ext cx="11294100" cy="13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CO" sz="17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Llevar a cabo</a:t>
            </a:r>
            <a:r>
              <a:rPr b="0" i="0" lang="es-CO" sz="17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un sistema de  información </a:t>
            </a:r>
            <a:r>
              <a:rPr lang="es-CO" sz="17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Semi</a:t>
            </a:r>
            <a:r>
              <a:rPr b="0" i="0" lang="es-CO" sz="17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automatizado que optimice la gestión de la información y el control operativo</a:t>
            </a:r>
            <a:r>
              <a:rPr lang="es-CO" sz="17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</a:t>
            </a:r>
            <a:r>
              <a:rPr b="0" i="0" lang="es-CO" sz="17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que permita sistematizar el proceso de ventas, inventario y producción, sustituyendo los registros manuales por un sistema.	</a:t>
            </a:r>
            <a:endParaRPr b="0" i="0" sz="17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d White people with dart and target. Success in business. (proporcionado por Getty Images)" id="147" name="Google Shape;147;g3a5859012eb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878" y="3266038"/>
            <a:ext cx="3487324" cy="2615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tos gratis : flecha, concepto, crecimiento, empresario, mejora ..." id="148" name="Google Shape;148;g3a5859012eb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7676" y="3170988"/>
            <a:ext cx="4197151" cy="280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859012eb_0_17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a5859012eb_0_17"/>
          <p:cNvSpPr txBox="1"/>
          <p:nvPr/>
        </p:nvSpPr>
        <p:spPr>
          <a:xfrm>
            <a:off x="291450" y="1697300"/>
            <a:ext cx="8285400" cy="28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Analizar el proceso actual de registro que se realiza manualmente.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Diseñar un sistema con módulos interconectados </a:t>
            </a: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(ventas, inventario y producción)</a:t>
            </a: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.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Crear formularios digitales para </a:t>
            </a:r>
            <a:r>
              <a:rPr lang="es-CO" sz="15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(reportes empleados, procesos de ventas y satisfacción al cliente)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Automatizar reportes de ventas, inventarios y entregas.</a:t>
            </a:r>
            <a:b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Light"/>
              <a:buAutoNum type="arabicPeriod"/>
            </a:pPr>
            <a:r>
              <a:rPr b="0" i="0" lang="es-CO" sz="15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Establecer alertas de faltantes de materiales para evitar retrasos.</a:t>
            </a: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g3a5859012eb_0_17" title="download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4800" y="4723150"/>
            <a:ext cx="8199200" cy="17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5859012eb_0_3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1" name="Google Shape;161;g3a5859012eb_0_33"/>
          <p:cNvSpPr txBox="1"/>
          <p:nvPr/>
        </p:nvSpPr>
        <p:spPr>
          <a:xfrm>
            <a:off x="172050" y="1365325"/>
            <a:ext cx="11294100" cy="50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500">
                <a:solidFill>
                  <a:schemeClr val="dk1"/>
                </a:solidFill>
              </a:rPr>
              <a:t>El proyecto incluye: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Creación de cinco módulos principales: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Ventas y clientes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Inventario y materiales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Producción y confección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Personal y tallaje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CO" sz="1300">
                <a:solidFill>
                  <a:schemeClr val="dk1"/>
                </a:solidFill>
              </a:rPr>
              <a:t>Logística y entrega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Formatos digitales para el ingreso y actualización de datos en cada módulo.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Flujo de trabajo integrado, desde la cotización del cliente hasta la entrega final de la dotación.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Generación de reportes para apoyar la toma de decisiones administrativas y operativas.</a:t>
            </a:r>
            <a:br>
              <a:rPr lang="es-CO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O" sz="1300">
                <a:solidFill>
                  <a:schemeClr val="dk1"/>
                </a:solidFill>
              </a:rPr>
              <a:t>Incluye: desarrollo de interfaz web externa, con posibilidad de integración con sistemas de factura digital.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g3a5859012eb_0_33" title="download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5650" y="1840888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people planning vector illustration, cartoon flat employee character team working together on business plan isolated on white (proporcionada por Getty Images)" id="163" name="Google Shape;163;g3a5859012eb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2623" y="3660400"/>
            <a:ext cx="2922476" cy="192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5859012eb_0_9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MÓDULOS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a5859012eb_0_9"/>
          <p:cNvGraphicFramePr/>
          <p:nvPr/>
        </p:nvGraphicFramePr>
        <p:xfrm>
          <a:off x="392775" y="15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{9050D155-1127-4C4B-B724-269314F6EE7E}</a:tableStyleId>
              </a:tblPr>
              <a:tblGrid>
                <a:gridCol w="2459575"/>
                <a:gridCol w="9161925"/>
              </a:tblGrid>
              <a:tr h="534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MÓDULO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DESCRIPCIÓN GENERAL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VENTAS Y CLIENTES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Registro y gestión de clientes, cotizaciones, pedidos y facturación. Seguimiento del estado de cada venta desde la solicitud hasta la entrega.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INVENTARIO Y MATERIALES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Control de entradas y salidas de telas, insumos, tallas y productos terminados. Permite evitar faltantes, pérdidas y sobrestock.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PRODUCCIÓN Y CONFECCIÓN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Planificación y control de órdenes de producción, asignación de tareas, tiempos de confección y avance de cada pedido.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PERSONAL Y TALLAJE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Registro de empleados, control de asignación de dotaciones, tallas por cliente o trabajador y cumplimiento de entregas periódicas.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LOGÍSTICA Y ENTREGA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Gestión de despachos, fechas de entrega, control de pedidos entregados y pendientes, y registro de confirmación del cliente.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5859012eb_1_33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MÓDULOS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5" name="Google Shape;175;g3a5859012eb_1_33"/>
          <p:cNvGraphicFramePr/>
          <p:nvPr/>
        </p:nvGraphicFramePr>
        <p:xfrm>
          <a:off x="69125" y="13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{9050D155-1127-4C4B-B724-269314F6EE7E}</a:tableStyleId>
              </a:tblPr>
              <a:tblGrid>
                <a:gridCol w="4437675"/>
                <a:gridCol w="3135300"/>
                <a:gridCol w="4480775"/>
              </a:tblGrid>
              <a:tr h="516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Y ROL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RESPONSABILIDAD PRINCIPAL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TAREAS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1 (ANTONY CARDENAS)</a:t>
                      </a:r>
                      <a:r>
                        <a:rPr lang="es-CO" sz="1100"/>
                        <a:t>Analista y Diseñador del Módulo de Ventas y Clientes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Sistematizar el proceso de ventas, clientes y facturación.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Crear base de datos de clientes, generar cotizaciones, registrar pedidos, controlar estados de venta y generar reportes.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2 (DILAN RODRIGUEZ)</a:t>
                      </a:r>
                      <a:r>
                        <a:rPr lang="es-CO" sz="1100"/>
                        <a:t>Encargado del Módulo de Inventario y Materiales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Digitalizar y controlar el manejo de inventario y materia prima.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Diseñar base de datos de materiales, registrar entradas y salidas, controlar stock, generar alertas y reportes.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3 (FELIPE LASPRILLA)</a:t>
                      </a:r>
                      <a:r>
                        <a:rPr lang="es-CO" sz="1100"/>
                        <a:t>Encargado del Módulo de Producción y Confección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Controlar el proceso de producción de las dotaciones.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Crear órdenes de producción, asignar tareas, registrar avances y controlar tiempos de confección.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4 (BRAYAN CORPA)</a:t>
                      </a:r>
                      <a:r>
                        <a:rPr lang="es-CO" sz="1100"/>
                        <a:t>Encargado del Módulo de Logística y Entrega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Gestionar la entrega oportuna de los pedidos.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Registrar despachos, controlar fechas de entrega, actualizar estados de pedidos y confirmar entregas con clientes.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/>
                        <a:t>INTEGRANTE 5 (SAMUEL PEÑA)</a:t>
                      </a:r>
                      <a:r>
                        <a:rPr lang="es-CO" sz="1100"/>
                        <a:t>Encargado del Módulo de Personal y Tallaje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Administrar la información del personal y las dotaciones asignadas.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/>
                        <a:t>Registrar empleados, controlar tallas, asignar dotaciones por trabajador y generar reportes de entregas.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5859012eb_1_2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FLUJO GENERAL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luence of external factors on object RGB color icon (proporcionado por Getty Images)" id="181" name="Google Shape;181;g3a5859012eb_1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1650" y="1387895"/>
            <a:ext cx="1844398" cy="1844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icken wearing glasses is pointing at a graph on a white board (proporcionado por Tenor)" id="182" name="Google Shape;182;g3a5859012eb_1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0125" y="3232303"/>
            <a:ext cx="2257950" cy="178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cussion   messages   bubble (proporcionado por Getty Images)" id="183" name="Google Shape;183;g3a5859012eb_1_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2700" y="5182050"/>
            <a:ext cx="1487427" cy="1487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a5859012eb_1_28" title="flujo general - visual selecti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1249500"/>
            <a:ext cx="7799649" cy="58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5859012eb_1_3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BENEFICIOS ESPERADOS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a5859012eb_1_38"/>
          <p:cNvSpPr txBox="1"/>
          <p:nvPr/>
        </p:nvSpPr>
        <p:spPr>
          <a:xfrm>
            <a:off x="515400" y="2324575"/>
            <a:ext cx="67305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Eliminación total de registros manuales.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Mayor rapidez en el acceso a información.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Reducción de errores en los pedidos.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Registro de inventario y producción.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AutoNum type="arabicPeriod"/>
            </a:pPr>
            <a:r>
              <a:rPr b="0" i="0" lang="es-CO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Optimización del tiempo y mejor servicio al cliente.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ickmen lifting bar for graph (proporcionado por Getty Images)" id="191" name="Google Shape;191;g3a5859012eb_1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6350" y="1496974"/>
            <a:ext cx="2206177" cy="1512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ople with rope raise falling chart. Increase in profit and income. Businesspeople working together. Crisis management. Teamwork (proporcionado por Getty Images)" id="192" name="Google Shape;192;g3a5859012eb_1_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6800" y="3165050"/>
            <a:ext cx="2636001" cy="175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couple and hand (proporcionado por Getty Images)" id="193" name="Google Shape;193;g3a5859012eb_1_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4425" y="5112509"/>
            <a:ext cx="2110024" cy="1607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